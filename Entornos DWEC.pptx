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Montserrat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7E5A05-C6D7-450C-97CE-36C5EE439D76}">
  <a:tblStyle styleId="{D87E5A05-C6D7-450C-97CE-36C5EE439D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316ab5ea861218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316ab5ea861218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316ab5ea861218f6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316ab5ea861218f6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316ab5ea861218f6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h316ab5ea861218f6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316ab5ea861218f6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h316ab5ea861218f6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1ce975cd3daba8be_1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h1ce975cd3daba8be_1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1ce975cd3daba8be_13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h1ce975cd3daba8be_1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1ce975cd3daba8be_13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h1ce975cd3daba8be_13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1ce975cd3daba8be_13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h1ce975cd3daba8be_13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1ce975cd3daba8be_13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h1ce975cd3daba8be_13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1ce975cd3daba8be_13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h1ce975cd3daba8be_1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1ce975cd3daba8be_13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h1ce975cd3daba8be_13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316ab5ea861218f6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h316ab5ea861218f6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d47cbf0549abda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hd47cbf0549abda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316ab5ea861218f6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h316ab5ea861218f6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h1ce975cd3daba8be_1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h1ce975cd3daba8be_1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lenguajecss.com/css/logica-css/css-es-programacion/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eveloper.mozilla.org/es/docs/Web/CS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160100" y="1452588"/>
            <a:ext cx="5394600" cy="18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Entornos de trabajo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Desarrollo web en cliente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409582" y="3924925"/>
            <a:ext cx="3470700" cy="7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Víctor Arribas Pérez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Fco.Javier Vera Valenciano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27144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 u="sng">
                <a:solidFill>
                  <a:srgbClr val="00FF00"/>
                </a:solidFill>
              </a:rPr>
              <a:t>Índice</a:t>
            </a:r>
            <a:endParaRPr sz="2900" u="sng">
              <a:solidFill>
                <a:srgbClr val="00FF00"/>
              </a:solidFill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197350"/>
            <a:ext cx="7038900" cy="35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AutoNum type="arabicPeriod"/>
            </a:pPr>
            <a:r>
              <a:rPr lang="es" sz="1800">
                <a:solidFill>
                  <a:srgbClr val="FF9900"/>
                </a:solidFill>
              </a:rPr>
              <a:t>Entorno de trabajo</a:t>
            </a:r>
            <a:endParaRPr sz="1800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AutoNum type="arabicPeriod"/>
            </a:pPr>
            <a:r>
              <a:rPr lang="es" sz="1800">
                <a:solidFill>
                  <a:srgbClr val="FF9900"/>
                </a:solidFill>
              </a:rPr>
              <a:t>Desarrollo web en entorno cliente</a:t>
            </a:r>
            <a:endParaRPr sz="1800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AutoNum type="arabicPeriod"/>
            </a:pPr>
            <a:r>
              <a:rPr lang="es" sz="1800">
                <a:solidFill>
                  <a:srgbClr val="FF9900"/>
                </a:solidFill>
              </a:rPr>
              <a:t>Lenguajes más populares</a:t>
            </a:r>
            <a:endParaRPr sz="1800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AutoNum type="arabicPeriod"/>
            </a:pPr>
            <a:r>
              <a:rPr lang="es" sz="1800">
                <a:solidFill>
                  <a:srgbClr val="FF9900"/>
                </a:solidFill>
              </a:rPr>
              <a:t>Cascading Style Sheets (CSS)</a:t>
            </a:r>
            <a:endParaRPr sz="1800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AutoNum type="arabicPeriod"/>
            </a:pPr>
            <a:r>
              <a:rPr lang="es" sz="1800">
                <a:solidFill>
                  <a:srgbClr val="FF9900"/>
                </a:solidFill>
              </a:rPr>
              <a:t>JavaScript</a:t>
            </a:r>
            <a:endParaRPr sz="1800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AutoNum type="arabicPeriod"/>
            </a:pPr>
            <a:r>
              <a:rPr lang="es" sz="1800">
                <a:solidFill>
                  <a:srgbClr val="FF9900"/>
                </a:solidFill>
              </a:rPr>
              <a:t>TypeScript</a:t>
            </a:r>
            <a:endParaRPr sz="1800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AutoNum type="arabicPeriod"/>
            </a:pPr>
            <a:r>
              <a:rPr lang="es" sz="1800">
                <a:solidFill>
                  <a:srgbClr val="FF9900"/>
                </a:solidFill>
              </a:rPr>
              <a:t>Comparación diferencial</a:t>
            </a:r>
            <a:endParaRPr sz="1800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AutoNum type="arabicPeriod"/>
            </a:pPr>
            <a:r>
              <a:rPr lang="es" sz="1800">
                <a:solidFill>
                  <a:srgbClr val="FF9900"/>
                </a:solidFill>
              </a:rPr>
              <a:t>Herramientas para el desarrollo en cliente</a:t>
            </a:r>
            <a:endParaRPr sz="1800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AutoNum type="arabicPeriod"/>
            </a:pPr>
            <a:r>
              <a:rPr lang="es" sz="1800">
                <a:solidFill>
                  <a:srgbClr val="FF9900"/>
                </a:solidFill>
              </a:rPr>
              <a:t>Conclusiones</a:t>
            </a:r>
            <a:endParaRPr sz="1800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AutoNum type="arabicPeriod"/>
            </a:pPr>
            <a:r>
              <a:rPr lang="es" sz="1800">
                <a:solidFill>
                  <a:srgbClr val="FF9900"/>
                </a:solidFill>
              </a:rPr>
              <a:t>Bibliografía</a:t>
            </a:r>
            <a:endParaRPr sz="18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00" u="sng">
                <a:solidFill>
                  <a:srgbClr val="00FF00"/>
                </a:solidFill>
              </a:rPr>
              <a:t>Entorno de trabajo</a:t>
            </a:r>
            <a:endParaRPr b="1" sz="2900" u="sng">
              <a:solidFill>
                <a:srgbClr val="00FF00"/>
              </a:solidFill>
            </a:endParaRPr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15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rgbClr val="FFFF00"/>
                </a:solidFill>
              </a:rPr>
              <a:t>Conjunto de herramientas, tecnologías y configuraciones que utiliza un desarrollador para crear, probar y mantener aplicaciones y sitios web. </a:t>
            </a:r>
            <a:endParaRPr sz="2000">
              <a:solidFill>
                <a:srgbClr val="FFFF00"/>
              </a:solidFill>
            </a:endParaRPr>
          </a:p>
        </p:txBody>
      </p:sp>
      <p:pic>
        <p:nvPicPr>
          <p:cNvPr id="148" name="Google Shape;148;p15" title="P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20250" y="2865323"/>
            <a:ext cx="1941850" cy="194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 title="co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5899" y="3100400"/>
            <a:ext cx="1522976" cy="15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 title="gi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4300" y="3103385"/>
            <a:ext cx="1338125" cy="1362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 title="mysq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90114" y="3006250"/>
            <a:ext cx="1495760" cy="1522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1297500" y="158887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 u="sng">
                <a:solidFill>
                  <a:srgbClr val="00FF00"/>
                </a:solidFill>
              </a:rPr>
              <a:t>Desarrollo web en entorno cliente</a:t>
            </a:r>
            <a:endParaRPr sz="2900" u="sng">
              <a:solidFill>
                <a:srgbClr val="00FF00"/>
              </a:solidFill>
            </a:endParaRPr>
          </a:p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1297500" y="1074348"/>
            <a:ext cx="70389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rgbClr val="FFFF00"/>
                </a:solidFill>
              </a:rPr>
              <a:t>Código que se ejecuta en el navegador y gestiona interfaz, interacción y experiencia del usuario.</a:t>
            </a:r>
            <a:endParaRPr sz="2000">
              <a:solidFill>
                <a:srgbClr val="FFFF00"/>
              </a:solidFill>
            </a:endParaRPr>
          </a:p>
        </p:txBody>
      </p:sp>
      <p:pic>
        <p:nvPicPr>
          <p:cNvPr id="158" name="Google Shape;158;p16" title="cliente_servid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3950"/>
            <a:ext cx="2372125" cy="2310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" name="Google Shape;159;p16"/>
          <p:cNvGraphicFramePr/>
          <p:nvPr/>
        </p:nvGraphicFramePr>
        <p:xfrm>
          <a:off x="2322496" y="22390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{D87E5A05-C6D7-450C-97CE-36C5EE439D76}</a:tableStyleId>
              </a:tblPr>
              <a:tblGrid>
                <a:gridCol w="3365075"/>
                <a:gridCol w="3365075"/>
              </a:tblGrid>
              <a:tr h="21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FF9900"/>
                          </a:solidFill>
                        </a:rPr>
                        <a:t>Desarrollo cliente (Frontend)</a:t>
                      </a:r>
                      <a:endParaRPr b="1" sz="1600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solidFill>
                            <a:srgbClr val="FF9900"/>
                          </a:solidFill>
                        </a:rPr>
                        <a:t>Desarrollo servidor (Backend)</a:t>
                      </a:r>
                      <a:endParaRPr b="1" sz="1600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Ejecuta en el navegador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Ejecuta en el servidor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Interfaz y la interacción con el usuario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Gestiona la lógica de negocio datos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Usuario puede ver el código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Código oculto para el usuario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Diseño y experiencia del usuario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Seguridad, autenticación y acceso a datos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HTML, CSS, JavaScript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PHP, Java, Python, Node.js, C#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 u="sng">
                <a:solidFill>
                  <a:srgbClr val="00FF00"/>
                </a:solidFill>
              </a:rPr>
              <a:t>Lenguajes más populares</a:t>
            </a:r>
            <a:endParaRPr sz="2900" u="sng">
              <a:solidFill>
                <a:srgbClr val="00FF00"/>
              </a:solidFill>
            </a:endParaRPr>
          </a:p>
        </p:txBody>
      </p:sp>
      <p:pic>
        <p:nvPicPr>
          <p:cNvPr id="165" name="Google Shape;165;p17" title="htm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218" y="1522469"/>
            <a:ext cx="920925" cy="1059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title="cs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048" y="2769849"/>
            <a:ext cx="914100" cy="1051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title="Javascrip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218" y="4043484"/>
            <a:ext cx="914100" cy="9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title="TypeScrip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0047" y="3883282"/>
            <a:ext cx="1059522" cy="105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title="dar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80056" y="1566882"/>
            <a:ext cx="1059525" cy="105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2027797" y="1564234"/>
            <a:ext cx="2808000" cy="10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HTML</a:t>
            </a:r>
            <a:endParaRPr sz="2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2027808" y="2760848"/>
            <a:ext cx="2808000" cy="10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CSS3</a:t>
            </a:r>
            <a:endParaRPr sz="2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1882083" y="3957473"/>
            <a:ext cx="2808000" cy="10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JavaScript</a:t>
            </a:r>
            <a:endParaRPr sz="2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6213574" y="1583423"/>
            <a:ext cx="2808000" cy="10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Dart</a:t>
            </a:r>
            <a:endParaRPr sz="2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6213574" y="3904223"/>
            <a:ext cx="2808000" cy="10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TypeScript</a:t>
            </a:r>
            <a:endParaRPr sz="22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 u="sng">
                <a:solidFill>
                  <a:srgbClr val="00FF00"/>
                </a:solidFill>
              </a:rPr>
              <a:t>Cascading Style Sheets (CSS)</a:t>
            </a:r>
            <a:endParaRPr sz="2900" u="sng">
              <a:solidFill>
                <a:srgbClr val="00FF00"/>
              </a:solidFill>
            </a:endParaRPr>
          </a:p>
        </p:txBody>
      </p:sp>
      <p:sp>
        <p:nvSpPr>
          <p:cNvPr id="180" name="Google Shape;180;p18"/>
          <p:cNvSpPr txBox="1"/>
          <p:nvPr>
            <p:ph idx="1" type="body"/>
          </p:nvPr>
        </p:nvSpPr>
        <p:spPr>
          <a:xfrm>
            <a:off x="1268252" y="1223079"/>
            <a:ext cx="7279500" cy="22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57">
                <a:solidFill>
                  <a:srgbClr val="FFFF00"/>
                </a:solidFill>
              </a:rPr>
              <a:t>Se utiliza para dar estilo y diseño a las páginas web. </a:t>
            </a:r>
            <a:endParaRPr sz="8057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8057">
                <a:solidFill>
                  <a:srgbClr val="FFFF00"/>
                </a:solidFill>
              </a:rPr>
              <a:t>Se denomina “en cascada” porque se lee, procesa y aplica el código desde arriba hacia abajo, siguiendo patrones como la herencia.</a:t>
            </a:r>
            <a:endParaRPr sz="8057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8057">
                <a:solidFill>
                  <a:srgbClr val="FFFF00"/>
                </a:solidFill>
              </a:rPr>
              <a:t>Se trata de un lenguaje de hoja de estilos, no es un lenguaje de programación</a:t>
            </a:r>
            <a:r>
              <a:rPr lang="es" sz="2000">
                <a:solidFill>
                  <a:srgbClr val="FFFF00"/>
                </a:solidFill>
              </a:rPr>
              <a:t> </a:t>
            </a:r>
            <a:r>
              <a:rPr lang="es" sz="4800">
                <a:solidFill>
                  <a:schemeClr val="accent6"/>
                </a:solidFill>
              </a:rPr>
              <a:t>(o tal vez sí)</a:t>
            </a:r>
            <a:r>
              <a:rPr lang="es" sz="4800">
                <a:solidFill>
                  <a:srgbClr val="FFFF00"/>
                </a:solidFill>
              </a:rPr>
              <a:t>.</a:t>
            </a:r>
            <a:endParaRPr sz="4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FFFF00"/>
              </a:solidFill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109450" y="3671600"/>
            <a:ext cx="19182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FAB70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8F8F8"/>
                </a:solidFill>
                <a:latin typeface="Courier New"/>
                <a:ea typeface="Courier New"/>
                <a:cs typeface="Courier New"/>
                <a:sym typeface="Courier New"/>
              </a:rPr>
              <a:t>32px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s" sz="1100"/>
              <a:t>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2027650" y="3554250"/>
            <a:ext cx="66309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Tiene variables</a:t>
            </a:r>
            <a:r>
              <a:rPr lang="es" sz="20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20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                                   </a:t>
            </a:r>
            <a:r>
              <a:rPr lang="es" sz="20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Depende de HTML</a:t>
            </a:r>
            <a:endParaRPr sz="20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Tiene condicionales</a:t>
            </a:r>
            <a:endParaRPr sz="20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Permite cálculos</a:t>
            </a:r>
            <a:endParaRPr sz="20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					</a:t>
            </a:r>
            <a:r>
              <a:rPr lang="es" sz="10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Más información en:</a:t>
            </a:r>
            <a:r>
              <a:rPr lang="es" sz="20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1100" u="sng">
                <a:solidFill>
                  <a:schemeClr val="hlink"/>
                </a:solidFill>
                <a:hlinkClick r:id="rId3"/>
              </a:rPr>
              <a:t>¿CSS es programación? - CSS en español</a:t>
            </a:r>
            <a:r>
              <a:rPr lang="es" sz="1100"/>
              <a:t> </a:t>
            </a:r>
            <a:endParaRPr sz="20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3" name="Google Shape;183;p18" title="cs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82398" y="69599"/>
            <a:ext cx="914100" cy="1051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" name="Google Shape;188;p19"/>
          <p:cNvGraphicFramePr/>
          <p:nvPr/>
        </p:nvGraphicFramePr>
        <p:xfrm>
          <a:off x="1226507" y="1358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{D87E5A05-C6D7-450C-97CE-36C5EE439D76}</a:tableStyleId>
              </a:tblPr>
              <a:tblGrid>
                <a:gridCol w="3619500"/>
                <a:gridCol w="3619500"/>
              </a:tblGrid>
              <a:tr h="47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accent6"/>
                          </a:solidFill>
                        </a:rPr>
                        <a:t>Ventajas</a:t>
                      </a:r>
                      <a:endParaRPr b="1">
                        <a:solidFill>
                          <a:schemeClr val="accent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accent6"/>
                          </a:solidFill>
                        </a:rPr>
                        <a:t>Desventajas</a:t>
                      </a:r>
                      <a:endParaRPr b="1">
                        <a:solidFill>
                          <a:schemeClr val="accent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Sintaxis sencilla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Código crece rápidamente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3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Permite aplicar el mismo estilo a múltiples elementos o páginas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Difícil de manejar si no se sigue una metodología apropiada cómo BEM (Block, element, modifier)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3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Permite adaptar la web a móviles, tablets y ordenadores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Necesita combinarse con HTML. Carece de funcionalidad por sí solo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3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Permite crear animaciones y efectos visuales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Algunos estilos dependen del navegador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89" name="Google Shape;189;p19" title="c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5398" y="84599"/>
            <a:ext cx="914100" cy="1051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 u="sng">
                <a:solidFill>
                  <a:srgbClr val="00FF00"/>
                </a:solidFill>
              </a:rPr>
              <a:t>JavaScript</a:t>
            </a:r>
            <a:endParaRPr sz="2900" u="sng">
              <a:solidFill>
                <a:srgbClr val="00FF00"/>
              </a:solidFill>
            </a:endParaRPr>
          </a:p>
        </p:txBody>
      </p:sp>
      <p:sp>
        <p:nvSpPr>
          <p:cNvPr id="195" name="Google Shape;195;p20"/>
          <p:cNvSpPr txBox="1"/>
          <p:nvPr>
            <p:ph idx="1" type="body"/>
          </p:nvPr>
        </p:nvSpPr>
        <p:spPr>
          <a:xfrm>
            <a:off x="712425" y="1440500"/>
            <a:ext cx="7623900" cy="30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>
                <a:solidFill>
                  <a:srgbClr val="FFFF00"/>
                </a:solidFill>
              </a:rPr>
              <a:t>Fue creado por Brendan Eich en 1995, en 10 días.</a:t>
            </a:r>
            <a:endParaRPr sz="60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000">
                <a:solidFill>
                  <a:srgbClr val="FFFF00"/>
                </a:solidFill>
              </a:rPr>
              <a:t>Lenguaje interpretado, dinámico,  débilmente tipado, acepta programación orientada a objetos y funcional.</a:t>
            </a:r>
            <a:endParaRPr sz="60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000">
                <a:solidFill>
                  <a:srgbClr val="FFFF00"/>
                </a:solidFill>
              </a:rPr>
              <a:t>Permite que las páginas web sean interactivas</a:t>
            </a:r>
            <a:endParaRPr sz="60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000">
                <a:solidFill>
                  <a:srgbClr val="FFFF00"/>
                </a:solidFill>
              </a:rPr>
              <a:t>Permite la manipulación del dom sin recargar la página</a:t>
            </a:r>
            <a:endParaRPr sz="60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000">
                <a:solidFill>
                  <a:srgbClr val="FFFF00"/>
                </a:solidFill>
              </a:rPr>
              <a:t>Basado en eventos y asíncrono</a:t>
            </a:r>
            <a:endParaRPr sz="60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000">
                <a:solidFill>
                  <a:srgbClr val="FFFF00"/>
                </a:solidFill>
              </a:rPr>
              <a:t>Tiene un gran ecosistema: React, Vue, Angular, Node.js…</a:t>
            </a:r>
            <a:endParaRPr sz="60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000">
                <a:solidFill>
                  <a:srgbClr val="FF9900"/>
                </a:solidFill>
              </a:rPr>
              <a:t>documentación oficial: </a:t>
            </a:r>
            <a:r>
              <a:rPr lang="es" sz="60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https://developer.mozilla.org/en-US/docs/Web/JavaScript </a:t>
            </a:r>
            <a:endParaRPr sz="60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FFFF00"/>
              </a:solidFill>
            </a:endParaRPr>
          </a:p>
        </p:txBody>
      </p:sp>
      <p:pic>
        <p:nvPicPr>
          <p:cNvPr id="196" name="Google Shape;196;p20" title="Javascrip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8143" y="113434"/>
            <a:ext cx="914100" cy="91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>
            <p:ph idx="1" type="body"/>
          </p:nvPr>
        </p:nvSpPr>
        <p:spPr>
          <a:xfrm>
            <a:off x="1307425" y="152600"/>
            <a:ext cx="4172700" cy="21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nombre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FAB70"/>
                </a:solidFill>
                <a:latin typeface="Courier New"/>
                <a:ea typeface="Courier New"/>
                <a:cs typeface="Courier New"/>
                <a:sym typeface="Courier New"/>
              </a:rPr>
              <a:t>"Ana"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 edad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8F8F8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 ciudad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FAB70"/>
                </a:solidFill>
                <a:latin typeface="Courier New"/>
                <a:ea typeface="Courier New"/>
                <a:cs typeface="Courier New"/>
                <a:sym typeface="Courier New"/>
              </a:rPr>
              <a:t>"Valencia"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persona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 { nombre</a:t>
            </a:r>
            <a:r>
              <a:rPr lang="es" sz="12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 edad</a:t>
            </a:r>
            <a:r>
              <a:rPr lang="es" sz="12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 ciudad };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numeros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s" sz="1200">
                <a:solidFill>
                  <a:srgbClr val="F8F8F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2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8F8F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12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8F8F8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s" sz="12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8F8F8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dobles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numeros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.map(n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 n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8F8F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titulo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do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cument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.querySelector(</a:t>
            </a:r>
            <a:r>
              <a:rPr lang="es" sz="1200">
                <a:solidFill>
                  <a:srgbClr val="FFAB70"/>
                </a:solidFill>
                <a:latin typeface="Courier New"/>
                <a:ea typeface="Courier New"/>
                <a:cs typeface="Courier New"/>
                <a:sym typeface="Courier New"/>
              </a:rPr>
              <a:t>"#titulo"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 (edad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8F8F8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titulo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.textContent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FAB70"/>
                </a:solidFill>
                <a:latin typeface="Courier New"/>
                <a:ea typeface="Courier New"/>
                <a:cs typeface="Courier New"/>
                <a:sym typeface="Courier New"/>
              </a:rPr>
              <a:t>`Hola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persona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.nombre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s" sz="1200">
                <a:solidFill>
                  <a:srgbClr val="FFAB70"/>
                </a:solidFill>
                <a:latin typeface="Courier New"/>
                <a:ea typeface="Courier New"/>
                <a:cs typeface="Courier New"/>
                <a:sym typeface="Courier New"/>
              </a:rPr>
              <a:t>, tienes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edad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s" sz="1200">
                <a:solidFill>
                  <a:srgbClr val="FFAB70"/>
                </a:solidFill>
                <a:latin typeface="Courier New"/>
                <a:ea typeface="Courier New"/>
                <a:cs typeface="Courier New"/>
                <a:sym typeface="Courier New"/>
              </a:rPr>
              <a:t> años`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titulo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.color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FAB70"/>
                </a:solidFill>
                <a:latin typeface="Courier New"/>
                <a:ea typeface="Courier New"/>
                <a:cs typeface="Courier New"/>
                <a:sym typeface="Courier New"/>
              </a:rPr>
              <a:t>"blue"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pic>
        <p:nvPicPr>
          <p:cNvPr id="202" name="Google Shape;202;p21" title="Javascrip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9243" y="436634"/>
            <a:ext cx="914100" cy="914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3" name="Google Shape;203;p21"/>
          <p:cNvGraphicFramePr/>
          <p:nvPr/>
        </p:nvGraphicFramePr>
        <p:xfrm>
          <a:off x="341857" y="24204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{D87E5A05-C6D7-450C-97CE-36C5EE439D76}</a:tableStyleId>
              </a:tblPr>
              <a:tblGrid>
                <a:gridCol w="4265375"/>
                <a:gridCol w="426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FF9900"/>
                          </a:solidFill>
                        </a:rPr>
                        <a:t>Ventajas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FF9900"/>
                          </a:solidFill>
                        </a:rPr>
                        <a:t>Desventajas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Rápido y multiplataforma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Errores en tiempo de ejecución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Ideal para desarrollo Web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Limitaciones de seguridad en el navegador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Gran ecosistema y comunidad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Puede volverse complejo en proyectos grandes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Manipulación del dom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Puede funcionar en frontend y en backend (con Node.js)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00" u="sng">
                <a:solidFill>
                  <a:srgbClr val="00FF00"/>
                </a:solidFill>
              </a:rPr>
              <a:t>TypeScript</a:t>
            </a:r>
            <a:endParaRPr b="1" sz="2900" u="sng">
              <a:solidFill>
                <a:srgbClr val="00FF00"/>
              </a:solidFill>
            </a:endParaRPr>
          </a:p>
        </p:txBody>
      </p:sp>
      <p:sp>
        <p:nvSpPr>
          <p:cNvPr id="209" name="Google Shape;209;p22"/>
          <p:cNvSpPr txBox="1"/>
          <p:nvPr>
            <p:ph idx="1" type="body"/>
          </p:nvPr>
        </p:nvSpPr>
        <p:spPr>
          <a:xfrm>
            <a:off x="501050" y="1567550"/>
            <a:ext cx="8337600" cy="3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FFFF00"/>
                </a:solidFill>
              </a:rPr>
              <a:t>TypeScript es un lenguaje de programación desarrollado por Microsoft  en 2012, que amplía JavaScript incorporando tipado estático y otras funcionalidades.</a:t>
            </a:r>
            <a:endParaRPr sz="19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FFFF00"/>
                </a:solidFill>
              </a:rPr>
              <a:t>Tipado estático</a:t>
            </a:r>
            <a:endParaRPr sz="19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FFFF00"/>
                </a:solidFill>
              </a:rPr>
              <a:t>Compatible con javascript</a:t>
            </a:r>
            <a:endParaRPr sz="19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FFFF00"/>
                </a:solidFill>
              </a:rPr>
              <a:t>Detección de errores en tiempo de desarrollo</a:t>
            </a:r>
            <a:endParaRPr sz="19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FFFF00"/>
                </a:solidFill>
              </a:rPr>
              <a:t>Orientado a objetos</a:t>
            </a:r>
            <a:endParaRPr sz="19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FFFF00"/>
                </a:solidFill>
              </a:rPr>
              <a:t>Se compila a JavaScript</a:t>
            </a:r>
            <a:endParaRPr sz="1900">
              <a:solidFill>
                <a:srgbClr val="FFFF00"/>
              </a:solidFill>
            </a:endParaRPr>
          </a:p>
        </p:txBody>
      </p:sp>
      <p:pic>
        <p:nvPicPr>
          <p:cNvPr id="210" name="Google Shape;210;p22" title="TypeScrip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1497" y="47207"/>
            <a:ext cx="1059522" cy="105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" name="Google Shape;215;p23"/>
          <p:cNvGraphicFramePr/>
          <p:nvPr/>
        </p:nvGraphicFramePr>
        <p:xfrm>
          <a:off x="741128" y="28770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{D87E5A05-C6D7-450C-97CE-36C5EE439D76}</a:tableStyleId>
              </a:tblPr>
              <a:tblGrid>
                <a:gridCol w="3897425"/>
                <a:gridCol w="3897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FF9900"/>
                          </a:solidFill>
                        </a:rPr>
                        <a:t>Ventajas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FF9900"/>
                          </a:solidFill>
                        </a:rPr>
                        <a:t>Desventajas</a:t>
                      </a:r>
                      <a:endParaRPr b="1">
                        <a:solidFill>
                          <a:srgbClr val="FF99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Detecta errores antes de la ejecución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Requiere compilación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Mejora la mantenibilidad en proyectos grandes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Más difícil de aprender que JavaScript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Compatible con JavaScript y su sistema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Depende del ecosistema de Microsoft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FFFF00"/>
                          </a:solidFill>
                        </a:rPr>
                        <a:t>Es de código abierto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6" name="Google Shape;216;p23"/>
          <p:cNvSpPr txBox="1"/>
          <p:nvPr/>
        </p:nvSpPr>
        <p:spPr>
          <a:xfrm>
            <a:off x="1135183" y="203550"/>
            <a:ext cx="3000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Usuario {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  nombre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  edad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usuario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Usuario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 { nombre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FAB70"/>
                </a:solidFill>
                <a:latin typeface="Courier New"/>
                <a:ea typeface="Courier New"/>
                <a:cs typeface="Courier New"/>
                <a:sym typeface="Courier New"/>
              </a:rPr>
              <a:t>"Ana"</a:t>
            </a:r>
            <a:r>
              <a:rPr lang="es" sz="12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 edad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8F8F8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 };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saludar(u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Usuario)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FAB70"/>
                </a:solidFill>
                <a:latin typeface="Courier New"/>
                <a:ea typeface="Courier New"/>
                <a:cs typeface="Courier New"/>
                <a:sym typeface="Courier New"/>
              </a:rPr>
              <a:t>`Hola,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.nombre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s" sz="1200">
                <a:solidFill>
                  <a:srgbClr val="FFAB70"/>
                </a:solidFill>
                <a:latin typeface="Courier New"/>
                <a:ea typeface="Courier New"/>
                <a:cs typeface="Courier New"/>
                <a:sym typeface="Courier New"/>
              </a:rPr>
              <a:t>`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s" sz="1100"/>
              <a:t> 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5981200" y="900300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usuario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 { nombre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FAB70"/>
                </a:solidFill>
                <a:latin typeface="Courier New"/>
                <a:ea typeface="Courier New"/>
                <a:cs typeface="Courier New"/>
                <a:sym typeface="Courier New"/>
              </a:rPr>
              <a:t>"Ana"</a:t>
            </a:r>
            <a:r>
              <a:rPr lang="es" sz="1200">
                <a:solidFill>
                  <a:srgbClr val="BBBBBB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 edad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8F8F8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 };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saludar(u) {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FFAB70"/>
                </a:solidFill>
                <a:latin typeface="Courier New"/>
                <a:ea typeface="Courier New"/>
                <a:cs typeface="Courier New"/>
                <a:sym typeface="Courier New"/>
              </a:rPr>
              <a:t>`Hola, 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es" sz="1200">
                <a:solidFill>
                  <a:srgbClr val="79B8FF"/>
                </a:solidFill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.nombre</a:t>
            </a:r>
            <a:r>
              <a:rPr lang="es" sz="1200">
                <a:solidFill>
                  <a:srgbClr val="F9758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s" sz="1200">
                <a:solidFill>
                  <a:srgbClr val="FFAB70"/>
                </a:solidFill>
                <a:latin typeface="Courier New"/>
                <a:ea typeface="Courier New"/>
                <a:cs typeface="Courier New"/>
                <a:sym typeface="Courier New"/>
              </a:rPr>
              <a:t>`</a:t>
            </a: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B392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s" sz="1100"/>
              <a:t> </a:t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4055300" y="1233600"/>
            <a:ext cx="1769400" cy="62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9" name="Google Shape;219;p23" title="TypeScrip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4547" y="47207"/>
            <a:ext cx="1059522" cy="105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1297500" y="1510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 u="sng">
                <a:solidFill>
                  <a:srgbClr val="00FF00"/>
                </a:solidFill>
              </a:rPr>
              <a:t>Comparación diferencial</a:t>
            </a:r>
            <a:endParaRPr sz="2900" u="sng">
              <a:solidFill>
                <a:srgbClr val="00FF00"/>
              </a:solidFill>
            </a:endParaRPr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805350" y="1025575"/>
            <a:ext cx="8023200" cy="36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9900"/>
                </a:solidFill>
              </a:rPr>
              <a:t>HTML: </a:t>
            </a:r>
            <a:r>
              <a:rPr lang="es" sz="1800">
                <a:solidFill>
                  <a:srgbClr val="FFFF00"/>
                </a:solidFill>
              </a:rPr>
              <a:t>Lenguaje de marcado, se centra en la estructura y contenido de la página.</a:t>
            </a:r>
            <a:endParaRPr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9900"/>
                </a:solidFill>
              </a:rPr>
              <a:t>CSS: </a:t>
            </a:r>
            <a:r>
              <a:rPr lang="es" sz="1800">
                <a:solidFill>
                  <a:srgbClr val="FFFF00"/>
                </a:solidFill>
              </a:rPr>
              <a:t>Lenguaje declarativo, se centra en el aspecto visual de una web.</a:t>
            </a:r>
            <a:endParaRPr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9900"/>
                </a:solidFill>
              </a:rPr>
              <a:t>JavaScript: </a:t>
            </a:r>
            <a:r>
              <a:rPr lang="es" sz="1800">
                <a:solidFill>
                  <a:srgbClr val="FFFF00"/>
                </a:solidFill>
              </a:rPr>
              <a:t>Lenguaje de programación que añade comportamiento e interacción a la web.</a:t>
            </a:r>
            <a:endParaRPr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rgbClr val="FF9900"/>
                </a:solidFill>
              </a:rPr>
              <a:t>TypeScript: </a:t>
            </a:r>
            <a:r>
              <a:rPr lang="es" sz="1800">
                <a:solidFill>
                  <a:srgbClr val="FFFF00"/>
                </a:solidFill>
              </a:rPr>
              <a:t>Podría decirse que es JavaScript con tipado estático y alguna herramienta extra. No se ejecuta directamente, antes ha de ser compilado a JavaScript.</a:t>
            </a:r>
            <a:endParaRPr sz="18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rgbClr val="00FF00"/>
                </a:solidFill>
              </a:rPr>
              <a:t>Herramientas para el desarrollo en cliente</a:t>
            </a:r>
            <a:endParaRPr u="sng">
              <a:solidFill>
                <a:srgbClr val="00FF00"/>
              </a:solidFill>
            </a:endParaRPr>
          </a:p>
        </p:txBody>
      </p:sp>
      <p:sp>
        <p:nvSpPr>
          <p:cNvPr id="231" name="Google Shape;231;p25"/>
          <p:cNvSpPr txBox="1"/>
          <p:nvPr>
            <p:ph idx="1" type="body"/>
          </p:nvPr>
        </p:nvSpPr>
        <p:spPr>
          <a:xfrm>
            <a:off x="306800" y="1307850"/>
            <a:ext cx="8681700" cy="37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9900"/>
                </a:solidFill>
              </a:rPr>
              <a:t>Tareas a afrontar:	</a:t>
            </a:r>
            <a:endParaRPr sz="18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00"/>
                </a:solidFill>
              </a:rPr>
              <a:t>-Estructura y maquetado (HTML, CSS)	 		</a:t>
            </a:r>
            <a:endParaRPr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00"/>
                </a:solidFill>
              </a:rPr>
              <a:t>-Diseñar y adaptar la interfaz (Responsive) 	</a:t>
            </a:r>
            <a:endParaRPr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00"/>
                </a:solidFill>
              </a:rPr>
              <a:t>-Interactividad (Java/TypeScript)		  	</a:t>
            </a:r>
            <a:endParaRPr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00"/>
                </a:solidFill>
              </a:rPr>
              <a:t>-Depuración y funcionamiento en diversos navegadores</a:t>
            </a:r>
            <a:endParaRPr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00"/>
                </a:solidFill>
              </a:rPr>
              <a:t>-Control de versiones</a:t>
            </a:r>
            <a:endParaRPr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00"/>
                </a:solidFill>
              </a:rPr>
              <a:t>-Optimizar rendimiento (Tiempos de carga y peso de archivos)</a:t>
            </a:r>
            <a:endParaRPr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00"/>
                </a:solidFill>
              </a:rPr>
              <a:t>-Automatización de tareas (Compilar, minificar, recargar el navegador al guardar)</a:t>
            </a:r>
            <a:endParaRPr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rgbClr val="FFFF00"/>
                </a:solidFill>
              </a:rPr>
              <a:t>-Accesibilidad y SEO</a:t>
            </a:r>
            <a:endParaRPr sz="1800">
              <a:solidFill>
                <a:srgbClr val="FFFF00"/>
              </a:solidFill>
            </a:endParaRPr>
          </a:p>
        </p:txBody>
      </p:sp>
      <p:pic>
        <p:nvPicPr>
          <p:cNvPr id="232" name="Google Shape;2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6600" y="1307850"/>
            <a:ext cx="3318775" cy="221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>
            <p:ph type="title"/>
          </p:nvPr>
        </p:nvSpPr>
        <p:spPr>
          <a:xfrm>
            <a:off x="1297500" y="3195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rgbClr val="00FF00"/>
                </a:solidFill>
              </a:rPr>
              <a:t>Herramientas para el desarrollo en cliente</a:t>
            </a:r>
            <a:endParaRPr/>
          </a:p>
        </p:txBody>
      </p:sp>
      <p:sp>
        <p:nvSpPr>
          <p:cNvPr id="238" name="Google Shape;238;p26"/>
          <p:cNvSpPr txBox="1"/>
          <p:nvPr>
            <p:ph idx="1" type="body"/>
          </p:nvPr>
        </p:nvSpPr>
        <p:spPr>
          <a:xfrm>
            <a:off x="1297500" y="895875"/>
            <a:ext cx="70389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215">
                <a:solidFill>
                  <a:srgbClr val="FF9900"/>
                </a:solidFill>
              </a:rPr>
              <a:t>Herramientas</a:t>
            </a:r>
            <a:endParaRPr sz="7215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9" name="Google Shape;239;p26"/>
          <p:cNvGraphicFramePr/>
          <p:nvPr/>
        </p:nvGraphicFramePr>
        <p:xfrm>
          <a:off x="854575" y="151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{D87E5A05-C6D7-450C-97CE-36C5EE439D76}</a:tableStyleId>
              </a:tblPr>
              <a:tblGrid>
                <a:gridCol w="2641575"/>
                <a:gridCol w="2641575"/>
                <a:gridCol w="2641575"/>
              </a:tblGrid>
              <a:tr h="34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Categoría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Ejemplos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Utilidad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53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Editor/IDE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Visual Studio Code, Visual Studio, Webstorm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Escribir y organizar el código con </a:t>
                      </a: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autocompletado</a:t>
                      </a: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y extensiones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53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Navegador + DevTools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Chrome Devtools, Firefox DevTools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Inspeccionar HTML/CSS y depurar JS en tiempo real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4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Control de versiones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Git+GitHub/GitLab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Guardar el historial de cambios y colaboración en equipo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4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Node.js + Gestor de paquetes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Node.js, npm/yarn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Ejecutar JS fuera del navegador e instalar </a:t>
                      </a: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librerias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4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Empaquetador (bundler)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Vite, Webpack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Optimizar y preparar los archivos para producción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4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Frameworks</a:t>
                      </a: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/Librerías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React, Vue, Angular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FFFF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Estructurar interfaces complejas de forma más ordenada</a:t>
                      </a:r>
                      <a:endParaRPr sz="1000">
                        <a:solidFill>
                          <a:srgbClr val="FFFF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rgbClr val="00FF00"/>
                </a:solidFill>
              </a:rPr>
              <a:t>Conclusiones</a:t>
            </a:r>
            <a:endParaRPr u="sng">
              <a:solidFill>
                <a:srgbClr val="00FF00"/>
              </a:solidFill>
            </a:endParaRPr>
          </a:p>
        </p:txBody>
      </p:sp>
      <p:sp>
        <p:nvSpPr>
          <p:cNvPr id="245" name="Google Shape;245;p27"/>
          <p:cNvSpPr txBox="1"/>
          <p:nvPr>
            <p:ph idx="1" type="body"/>
          </p:nvPr>
        </p:nvSpPr>
        <p:spPr>
          <a:xfrm>
            <a:off x="1297500" y="1567550"/>
            <a:ext cx="3319800" cy="3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9900"/>
                </a:solidFill>
              </a:rPr>
              <a:t>¿Qué lenguaje </a:t>
            </a:r>
            <a:r>
              <a:rPr lang="es" sz="1800">
                <a:solidFill>
                  <a:srgbClr val="FF9900"/>
                </a:solidFill>
              </a:rPr>
              <a:t>elegimos</a:t>
            </a:r>
            <a:r>
              <a:rPr lang="es" sz="1800">
                <a:solidFill>
                  <a:srgbClr val="FF9900"/>
                </a:solidFill>
              </a:rPr>
              <a:t>?</a:t>
            </a:r>
            <a:endParaRPr sz="18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00"/>
                </a:solidFill>
              </a:rPr>
              <a:t>-JavaScript: Es el único que se ejecuta de forma nativa al navegador y sin él no hay interactividad</a:t>
            </a:r>
            <a:endParaRPr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00"/>
                </a:solidFill>
              </a:rPr>
              <a:t>-CSS: Imprescindible en la parte visual</a:t>
            </a:r>
            <a:endParaRPr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rgbClr val="FFFF00"/>
                </a:solidFill>
              </a:rPr>
              <a:t>-HTML: Parte estructural de la página</a:t>
            </a:r>
            <a:endParaRPr sz="1800">
              <a:solidFill>
                <a:srgbClr val="FFFF00"/>
              </a:solidFill>
            </a:endParaRPr>
          </a:p>
        </p:txBody>
      </p:sp>
      <p:sp>
        <p:nvSpPr>
          <p:cNvPr id="246" name="Google Shape;246;p27"/>
          <p:cNvSpPr txBox="1"/>
          <p:nvPr>
            <p:ph idx="1" type="body"/>
          </p:nvPr>
        </p:nvSpPr>
        <p:spPr>
          <a:xfrm>
            <a:off x="4874100" y="1567550"/>
            <a:ext cx="3319800" cy="3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9900"/>
                </a:solidFill>
              </a:rPr>
              <a:t>¿Qué herramientas </a:t>
            </a:r>
            <a:r>
              <a:rPr lang="es" sz="1800">
                <a:solidFill>
                  <a:srgbClr val="FF9900"/>
                </a:solidFill>
              </a:rPr>
              <a:t>elegimos</a:t>
            </a:r>
            <a:r>
              <a:rPr lang="es" sz="1800">
                <a:solidFill>
                  <a:srgbClr val="FF9900"/>
                </a:solidFill>
              </a:rPr>
              <a:t>?</a:t>
            </a:r>
            <a:endParaRPr sz="18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00"/>
                </a:solidFill>
              </a:rPr>
              <a:t>Git: Indispensable si se trabaja en equipo y control de versiones</a:t>
            </a:r>
            <a:endParaRPr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rgbClr val="FFFF00"/>
                </a:solidFill>
              </a:rPr>
              <a:t>Visual Studio Code: Accesible y con una gran </a:t>
            </a:r>
            <a:r>
              <a:rPr lang="es" sz="1800">
                <a:solidFill>
                  <a:srgbClr val="FFFF00"/>
                </a:solidFill>
              </a:rPr>
              <a:t>librería</a:t>
            </a:r>
            <a:r>
              <a:rPr lang="es" sz="1800">
                <a:solidFill>
                  <a:srgbClr val="FFFF00"/>
                </a:solidFill>
              </a:rPr>
              <a:t> de extensiones para lenguajes e integración con Git</a:t>
            </a:r>
            <a:endParaRPr sz="1800">
              <a:solidFill>
                <a:srgbClr val="FFFF00"/>
              </a:solidFill>
            </a:endParaRPr>
          </a:p>
        </p:txBody>
      </p:sp>
      <p:pic>
        <p:nvPicPr>
          <p:cNvPr id="247" name="Google Shape;247;p27" title="Javascrip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393" y="1567559"/>
            <a:ext cx="914100" cy="9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7" title="cs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398" y="2785424"/>
            <a:ext cx="914100" cy="1051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7" title="gi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71487" y="1475288"/>
            <a:ext cx="1079000" cy="109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7" title="cod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86525" y="2686775"/>
            <a:ext cx="1248925" cy="124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>
                <a:solidFill>
                  <a:srgbClr val="00FF00"/>
                </a:solidFill>
              </a:rPr>
              <a:t>Bibliografía</a:t>
            </a:r>
            <a:endParaRPr sz="2900">
              <a:solidFill>
                <a:srgbClr val="00FF00"/>
              </a:solidFill>
            </a:endParaRPr>
          </a:p>
        </p:txBody>
      </p:sp>
      <p:sp>
        <p:nvSpPr>
          <p:cNvPr id="256" name="Google Shape;256;p28"/>
          <p:cNvSpPr txBox="1"/>
          <p:nvPr>
            <p:ph idx="1" type="body"/>
          </p:nvPr>
        </p:nvSpPr>
        <p:spPr>
          <a:xfrm>
            <a:off x="313150" y="1567550"/>
            <a:ext cx="86118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FFFF00"/>
              </a:buClr>
              <a:buSzPts val="1300"/>
              <a:buAutoNum type="arabicPeriod"/>
            </a:pPr>
            <a:r>
              <a:rPr lang="es" sz="11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ManzDev. (s. f.). </a:t>
            </a:r>
            <a:r>
              <a:rPr i="1" lang="es" sz="11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¿CSS es programación?</a:t>
            </a:r>
            <a:r>
              <a:rPr lang="es" sz="11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Lenguaje CSS. https://lenguajecss.com/css/logica-css/css-es-programacion/</a:t>
            </a:r>
            <a:endParaRPr sz="11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300"/>
              <a:buAutoNum type="arabicPeriod"/>
            </a:pPr>
            <a:r>
              <a:rPr lang="es" sz="1200">
                <a:solidFill>
                  <a:srgbClr val="FFFF00"/>
                </a:solidFill>
                <a:highlight>
                  <a:srgbClr val="212121"/>
                </a:highlight>
                <a:latin typeface="Arial"/>
                <a:ea typeface="Arial"/>
                <a:cs typeface="Arial"/>
                <a:sym typeface="Arial"/>
              </a:rPr>
              <a:t>ManzDev. (s. f.). </a:t>
            </a:r>
            <a:r>
              <a:rPr i="1" lang="es" sz="1200">
                <a:solidFill>
                  <a:srgbClr val="FFFF00"/>
                </a:solidFill>
                <a:highlight>
                  <a:srgbClr val="212121"/>
                </a:highlight>
                <a:latin typeface="Arial"/>
                <a:ea typeface="Arial"/>
                <a:cs typeface="Arial"/>
                <a:sym typeface="Arial"/>
              </a:rPr>
              <a:t>Lenguaje CSS</a:t>
            </a:r>
            <a:r>
              <a:rPr lang="es" sz="1200">
                <a:solidFill>
                  <a:srgbClr val="FFFF00"/>
                </a:solidFill>
                <a:highlight>
                  <a:srgbClr val="212121"/>
                </a:highlight>
                <a:latin typeface="Arial"/>
                <a:ea typeface="Arial"/>
                <a:cs typeface="Arial"/>
                <a:sym typeface="Arial"/>
              </a:rPr>
              <a:t>. LenguajeCSS.com. https://lenguajecss.com/</a:t>
            </a:r>
            <a:r>
              <a:rPr lang="es" sz="11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Arial"/>
              <a:buAutoNum type="arabicPeriod"/>
            </a:pPr>
            <a:r>
              <a:rPr lang="es" sz="1200">
                <a:solidFill>
                  <a:srgbClr val="FFFF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MDN Contributors. (2026, 11 de septiembre). </a:t>
            </a:r>
            <a:r>
              <a:rPr i="1" lang="es" sz="1200">
                <a:solidFill>
                  <a:srgbClr val="FFFF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lang="es" sz="1200">
                <a:solidFill>
                  <a:srgbClr val="FFFF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. MDN Web Docs. </a:t>
            </a:r>
            <a:r>
              <a:rPr lang="es" sz="1200" u="sng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https://developer.mozilla.org/es/docs/Web/CSS</a:t>
            </a:r>
            <a:endParaRPr sz="11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Arial"/>
              <a:buAutoNum type="arabicPeriod"/>
            </a:pPr>
            <a:r>
              <a:rPr lang="es" sz="1200">
                <a:solidFill>
                  <a:srgbClr val="FFFF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MDN Contributors. (s. f.). </a:t>
            </a:r>
            <a:r>
              <a:rPr i="1" lang="es" sz="1200">
                <a:solidFill>
                  <a:srgbClr val="FFFF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JavaScript</a:t>
            </a:r>
            <a:r>
              <a:rPr lang="es" sz="1200">
                <a:solidFill>
                  <a:srgbClr val="FFFF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. MDN Web Docs. https://developer.mozilla.org/en-US/docs/Web/JavaScript</a:t>
            </a:r>
            <a:r>
              <a:rPr lang="es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Arial"/>
              <a:buAutoNum type="arabicPeriod"/>
            </a:pPr>
            <a:r>
              <a:rPr lang="es" sz="1200">
                <a:solidFill>
                  <a:srgbClr val="FFFF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TypeScript. (s. f.). </a:t>
            </a:r>
            <a:r>
              <a:rPr i="1" lang="es" sz="1200">
                <a:solidFill>
                  <a:srgbClr val="FFFF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TypeScript: JavaScript with syntax for types</a:t>
            </a:r>
            <a:r>
              <a:rPr lang="es" sz="1200">
                <a:solidFill>
                  <a:srgbClr val="FFFF00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. https://www.typescriptlang.org/</a:t>
            </a:r>
            <a:r>
              <a:rPr lang="es" sz="1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