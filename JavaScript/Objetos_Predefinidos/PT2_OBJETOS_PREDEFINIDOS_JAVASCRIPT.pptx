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2"/>
  </p:notesMasterIdLst>
  <p:sldIdLst>
    <p:sldId id="256" r:id="rId3"/>
    <p:sldId id="261" r:id="rId4"/>
    <p:sldId id="262" r:id="rId5"/>
    <p:sldId id="264" r:id="rId6"/>
    <p:sldId id="289" r:id="rId7"/>
    <p:sldId id="290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0" r:id="rId26"/>
    <p:sldId id="284" r:id="rId27"/>
    <p:sldId id="285" r:id="rId28"/>
    <p:sldId id="286" r:id="rId29"/>
    <p:sldId id="287" r:id="rId30"/>
    <p:sldId id="288" r:id="rId31"/>
  </p:sldIdLst>
  <p:sldSz cx="9144000" cy="6858000" type="screen4x3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6502C4-BB8C-CCD0-A249-91696C6D4362}" v="4" dt="2025-09-24T14:03:35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BA101-CE1E-4D51-B4FB-6C738E3EFC88}" type="datetimeFigureOut">
              <a:rPr lang="ca-ES" smtClean="0"/>
              <a:t>21/9/2026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BB053-4444-4BBD-B912-B63DE6A37407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906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 hidden="1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Rectangle 8" hidden="1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Rectangle 6"/>
          <p:cNvSpPr/>
          <p:nvPr/>
        </p:nvSpPr>
        <p:spPr>
          <a:xfrm>
            <a:off x="2520" y="6400800"/>
            <a:ext cx="914004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0" y="6334200"/>
            <a:ext cx="9140040" cy="626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traight Connector 8"/>
          <p:cNvSpPr/>
          <p:nvPr/>
        </p:nvSpPr>
        <p:spPr>
          <a:xfrm>
            <a:off x="905400" y="4343400"/>
            <a:ext cx="740664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Rectangle 8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s/docs/Web/JavaScript/Guide/Regular_expressions/Cheatsheet" TargetMode="Externa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4 Subtítulo"/>
          <p:cNvSpPr/>
          <p:nvPr/>
        </p:nvSpPr>
        <p:spPr>
          <a:xfrm>
            <a:off x="1345064" y="2880000"/>
            <a:ext cx="6042392" cy="18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2100" b="1" spc="-1" dirty="0">
                <a:solidFill>
                  <a:srgbClr val="000000"/>
                </a:solidFill>
                <a:latin typeface="Calibri"/>
                <a:ea typeface="DejaVu Sans"/>
              </a:rPr>
              <a:t>Unidad 2 – Objetos predefinidos del lenguaje</a:t>
            </a: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			</a:t>
            </a: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b="1" spc="-1" dirty="0">
                <a:solidFill>
                  <a:srgbClr val="000000"/>
                </a:solidFill>
                <a:latin typeface="Calibri"/>
              </a:rPr>
              <a:t>Rafael Torres</a:t>
            </a:r>
            <a:endParaRPr lang="es-ES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</p:txBody>
      </p:sp>
      <p:sp>
        <p:nvSpPr>
          <p:cNvPr id="127" name="1 CuadroTexto"/>
          <p:cNvSpPr/>
          <p:nvPr/>
        </p:nvSpPr>
        <p:spPr>
          <a:xfrm>
            <a:off x="3523569" y="3784767"/>
            <a:ext cx="1473778" cy="2986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strike="noStrike" spc="-1" dirty="0">
                <a:solidFill>
                  <a:srgbClr val="A6A6A6"/>
                </a:solidFill>
                <a:latin typeface="Arial"/>
                <a:ea typeface="DejaVu Sans"/>
              </a:rPr>
              <a:t>DWEC - 2º DAW</a:t>
            </a:r>
            <a:endParaRPr lang="es-ES" sz="1350" b="0" strike="noStrike" spc="-1" dirty="0">
              <a:latin typeface="Arial"/>
            </a:endParaRPr>
          </a:p>
        </p:txBody>
      </p:sp>
      <p:sp>
        <p:nvSpPr>
          <p:cNvPr id="128" name="7 Conector recto"/>
          <p:cNvSpPr/>
          <p:nvPr/>
        </p:nvSpPr>
        <p:spPr>
          <a:xfrm>
            <a:off x="425880" y="4353480"/>
            <a:ext cx="784656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 dirty="0"/>
          </a:p>
        </p:txBody>
      </p:sp>
      <p:sp>
        <p:nvSpPr>
          <p:cNvPr id="129" name="12 Conector recto"/>
          <p:cNvSpPr/>
          <p:nvPr/>
        </p:nvSpPr>
        <p:spPr>
          <a:xfrm>
            <a:off x="452520" y="2880000"/>
            <a:ext cx="782748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 dirty="0"/>
          </a:p>
        </p:txBody>
      </p:sp>
      <p:pic>
        <p:nvPicPr>
          <p:cNvPr id="130" name="Imagen 8"/>
          <p:cNvPicPr/>
          <p:nvPr/>
        </p:nvPicPr>
        <p:blipFill>
          <a:blip r:embed="rId2"/>
          <a:stretch/>
        </p:blipFill>
        <p:spPr>
          <a:xfrm>
            <a:off x="0" y="199080"/>
            <a:ext cx="2135880" cy="1336320"/>
          </a:xfrm>
          <a:prstGeom prst="rect">
            <a:avLst/>
          </a:prstGeom>
          <a:ln w="0">
            <a:noFill/>
          </a:ln>
        </p:spPr>
      </p:pic>
      <p:pic>
        <p:nvPicPr>
          <p:cNvPr id="131" name="Imagen 130"/>
          <p:cNvPicPr/>
          <p:nvPr/>
        </p:nvPicPr>
        <p:blipFill>
          <a:blip r:embed="rId3"/>
          <a:stretch/>
        </p:blipFill>
        <p:spPr>
          <a:xfrm rot="600">
            <a:off x="4498560" y="519840"/>
            <a:ext cx="3967560" cy="73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Unidad 2 – Índice</a:t>
            </a: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Objetos predefinidos del lenguaje </a:t>
            </a:r>
            <a:r>
              <a:rPr lang="es-ES" sz="2400" dirty="0" err="1"/>
              <a:t>Javascript</a:t>
            </a:r>
            <a:endParaRPr lang="es-ES" sz="2400" dirty="0"/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s-ES" sz="2400" dirty="0"/>
              <a:t>El objeto </a:t>
            </a:r>
            <a:r>
              <a:rPr lang="es-ES" sz="2400" dirty="0" err="1"/>
              <a:t>String</a:t>
            </a:r>
            <a:r>
              <a:rPr lang="es-ES" sz="2400" dirty="0"/>
              <a:t> </a:t>
            </a:r>
          </a:p>
          <a:p>
            <a:pPr marL="971550" lvl="1" indent="-514350">
              <a:lnSpc>
                <a:spcPct val="150000"/>
              </a:lnSpc>
              <a:buFontTx/>
              <a:buAutoNum type="arabicPeriod"/>
            </a:pPr>
            <a:r>
              <a:rPr lang="es-ES" sz="2400" dirty="0"/>
              <a:t>El objeto </a:t>
            </a:r>
            <a:r>
              <a:rPr lang="es-ES" sz="2400" dirty="0" err="1"/>
              <a:t>Number</a:t>
            </a:r>
            <a:r>
              <a:rPr lang="es-ES" sz="2400" dirty="0"/>
              <a:t> 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s-ES" sz="2400" dirty="0"/>
              <a:t>El objeto </a:t>
            </a:r>
            <a:r>
              <a:rPr lang="es-ES" sz="2400" dirty="0" err="1"/>
              <a:t>Math</a:t>
            </a:r>
            <a:r>
              <a:rPr lang="es-ES" sz="2400" dirty="0"/>
              <a:t> 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s-ES" sz="2400" dirty="0"/>
              <a:t>El objeto Date </a:t>
            </a:r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s-ES" sz="2400" dirty="0"/>
              <a:t>El objeto </a:t>
            </a:r>
            <a:r>
              <a:rPr lang="es-ES" sz="2400" dirty="0" err="1"/>
              <a:t>RegExp</a:t>
            </a:r>
            <a:endParaRPr lang="es-ES" sz="2400" dirty="0"/>
          </a:p>
          <a:p>
            <a:pPr lvl="1"/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1900583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77500" lnSpcReduction="20000"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 </a:t>
            </a:r>
            <a:r>
              <a:rPr lang="es-ES" sz="32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endParaRPr lang="es-ES" sz="32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4447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900" b="1" dirty="0"/>
              <a:t>Objetos predefinidos del lenguaje</a:t>
            </a:r>
            <a:r>
              <a:rPr lang="es-ES" sz="1900" dirty="0"/>
              <a:t>: son propios del lenguaje y existen independientemente del contexto.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900" dirty="0"/>
              <a:t>Como objetos que son, todos disponen de propiedades y métodos. 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900" dirty="0"/>
              <a:t>Objeto </a:t>
            </a:r>
            <a:r>
              <a:rPr lang="es-ES" sz="1900" dirty="0" err="1"/>
              <a:t>String</a:t>
            </a:r>
            <a:r>
              <a:rPr lang="es-ES" sz="1900" dirty="0"/>
              <a:t>: para representar y operar con cadenas de texto.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900" dirty="0"/>
              <a:t>Objeto </a:t>
            </a:r>
            <a:r>
              <a:rPr lang="es-ES" sz="1900" dirty="0" err="1"/>
              <a:t>Number</a:t>
            </a:r>
            <a:r>
              <a:rPr lang="es-ES" sz="1900" dirty="0"/>
              <a:t>: para representar números.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900" dirty="0"/>
              <a:t>Objeto </a:t>
            </a:r>
            <a:r>
              <a:rPr lang="es-ES" sz="1900" dirty="0" err="1"/>
              <a:t>Math</a:t>
            </a:r>
            <a:r>
              <a:rPr lang="es-ES" sz="1900" dirty="0"/>
              <a:t>: para representar constantes y funciones matemáticas.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900" dirty="0"/>
              <a:t>Objeto Date: para representar fechas.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900" dirty="0"/>
              <a:t>Objeto </a:t>
            </a:r>
            <a:r>
              <a:rPr lang="es-ES" sz="1900" dirty="0" err="1"/>
              <a:t>RegExp</a:t>
            </a:r>
            <a:r>
              <a:rPr lang="es-ES" sz="1900" dirty="0"/>
              <a:t>: para representar expresiones regulares.</a:t>
            </a:r>
          </a:p>
        </p:txBody>
      </p:sp>
    </p:spTree>
    <p:extLst>
      <p:ext uri="{BB962C8B-B14F-4D97-AF65-F5344CB8AC3E}">
        <p14:creationId xmlns:p14="http://schemas.microsoft.com/office/powerpoint/2010/main" val="158780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1.1.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String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915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900" dirty="0"/>
              <a:t>El objeto </a:t>
            </a:r>
            <a:r>
              <a:rPr lang="es-ES" sz="1900" dirty="0" err="1"/>
              <a:t>String</a:t>
            </a:r>
            <a:r>
              <a:rPr lang="es-ES" sz="1900" dirty="0"/>
              <a:t> es un constructor de cadenas. De hecho, no es exactamente lo mismo el tipo primitivo </a:t>
            </a:r>
            <a:r>
              <a:rPr lang="es-ES" sz="1900" dirty="0" err="1"/>
              <a:t>string</a:t>
            </a:r>
            <a:r>
              <a:rPr lang="es-ES" sz="1900" dirty="0"/>
              <a:t> que un objeto </a:t>
            </a:r>
            <a:r>
              <a:rPr lang="es-ES" sz="1900" dirty="0" err="1"/>
              <a:t>String</a:t>
            </a:r>
            <a:r>
              <a:rPr lang="es-ES" sz="1900" dirty="0"/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5750416-9302-54CE-BA41-A90CB71AA78A}"/>
              </a:ext>
            </a:extLst>
          </p:cNvPr>
          <p:cNvSpPr/>
          <p:nvPr/>
        </p:nvSpPr>
        <p:spPr>
          <a:xfrm>
            <a:off x="1084520" y="3060591"/>
            <a:ext cx="6974959" cy="259434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cad1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'Esto es una cadena de texto'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cad2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'Esto es una cadena de texto'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(cad1));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 string 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(cad2));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 object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(cad1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cad2);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//true 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(cad1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cad2);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//false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6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1.1.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String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3934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s-ES" dirty="0"/>
              <a:t>En JavaScript, aunque las cadenas de texto (</a:t>
            </a:r>
            <a:r>
              <a:rPr lang="es-ES" dirty="0" err="1"/>
              <a:t>strings</a:t>
            </a:r>
            <a:r>
              <a:rPr lang="es-ES" dirty="0"/>
              <a:t>) son </a:t>
            </a:r>
            <a:r>
              <a:rPr lang="es-ES" b="1" dirty="0"/>
              <a:t>tipos primitivos</a:t>
            </a:r>
            <a:r>
              <a:rPr lang="es-ES" dirty="0"/>
              <a:t>, el lenguaje permite que puedas acceder a métodos y propiedades en ellas como si fueran objetos. Esto sucede gracias a un mecanismo que se conoce como </a:t>
            </a:r>
            <a:r>
              <a:rPr lang="es-ES" b="1" dirty="0" err="1"/>
              <a:t>autoencapsulamiento</a:t>
            </a:r>
            <a:r>
              <a:rPr lang="es-ES" dirty="0"/>
              <a:t> o </a:t>
            </a:r>
            <a:r>
              <a:rPr lang="es-ES" b="1" dirty="0" err="1"/>
              <a:t>autoboxing</a:t>
            </a:r>
            <a:r>
              <a:rPr lang="es-ES" dirty="0"/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Autoboxing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s-ES" altLang="es-ES" dirty="0"/>
              <a:t>Cada vez que llamas a un método o propiedad de un primitivo, JavaScript crea una instancia temporal de la clase </a:t>
            </a:r>
            <a:r>
              <a:rPr lang="es-ES" altLang="es-ES" dirty="0" err="1"/>
              <a:t>String</a:t>
            </a:r>
            <a:r>
              <a:rPr lang="es-ES" altLang="es-ES" dirty="0"/>
              <a:t>. Es como si internamente JavaScript hiciera algo similar a new </a:t>
            </a:r>
            <a:r>
              <a:rPr lang="es-ES" altLang="es-ES" dirty="0" err="1"/>
              <a:t>String</a:t>
            </a:r>
            <a:r>
              <a:rPr lang="es-ES" altLang="es-ES" dirty="0"/>
              <a:t>("Hola"), pero solo mientras se ejecuta el método. 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2186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1.1.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String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47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900" dirty="0"/>
              <a:t>Ejemplo del </a:t>
            </a:r>
            <a:r>
              <a:rPr lang="es-ES" sz="1900" dirty="0" err="1"/>
              <a:t>autoboxing</a:t>
            </a:r>
            <a:r>
              <a:rPr lang="es-ES" sz="1900" dirty="0"/>
              <a:t>: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5750416-9302-54CE-BA41-A90CB71AA78A}"/>
              </a:ext>
            </a:extLst>
          </p:cNvPr>
          <p:cNvSpPr/>
          <p:nvPr/>
        </p:nvSpPr>
        <p:spPr>
          <a:xfrm>
            <a:off x="1084520" y="2460846"/>
            <a:ext cx="6974959" cy="30942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dirty="0" err="1"/>
              <a:t>let</a:t>
            </a:r>
            <a:r>
              <a:rPr lang="es-ES" dirty="0"/>
              <a:t> texto = "Hola";</a:t>
            </a:r>
          </a:p>
          <a:p>
            <a:endParaRPr lang="es-ES" dirty="0"/>
          </a:p>
          <a:p>
            <a:r>
              <a:rPr lang="es-ES" dirty="0"/>
              <a:t>// Accedemos a una propiedad del objeto </a:t>
            </a:r>
            <a:r>
              <a:rPr lang="es-ES" dirty="0" err="1"/>
              <a:t>String</a:t>
            </a:r>
            <a:r>
              <a:rPr lang="es-ES" dirty="0"/>
              <a:t> console.log(</a:t>
            </a:r>
            <a:r>
              <a:rPr lang="es-ES" dirty="0" err="1"/>
              <a:t>texto.length</a:t>
            </a:r>
            <a:r>
              <a:rPr lang="es-ES" dirty="0"/>
              <a:t>); // 4 </a:t>
            </a:r>
          </a:p>
          <a:p>
            <a:endParaRPr lang="es-ES" dirty="0"/>
          </a:p>
          <a:p>
            <a:r>
              <a:rPr lang="es-ES" dirty="0"/>
              <a:t>// Llamamos a un método del objeto </a:t>
            </a:r>
            <a:r>
              <a:rPr lang="es-ES" dirty="0" err="1"/>
              <a:t>String</a:t>
            </a:r>
            <a:r>
              <a:rPr lang="es-ES" dirty="0"/>
              <a:t> console.log(</a:t>
            </a:r>
            <a:r>
              <a:rPr lang="es-ES" dirty="0" err="1"/>
              <a:t>texto.toUpperCase</a:t>
            </a:r>
            <a:r>
              <a:rPr lang="es-ES" dirty="0"/>
              <a:t>()); // "HOLA" </a:t>
            </a:r>
          </a:p>
          <a:p>
            <a:endParaRPr lang="es-ES" dirty="0"/>
          </a:p>
          <a:p>
            <a:r>
              <a:rPr lang="es-ES" dirty="0"/>
              <a:t>// El valor sigue siendo primitivo </a:t>
            </a:r>
          </a:p>
          <a:p>
            <a:r>
              <a:rPr lang="es-ES" dirty="0"/>
              <a:t>console.log(</a:t>
            </a:r>
            <a:r>
              <a:rPr lang="es-ES" dirty="0" err="1"/>
              <a:t>typeof</a:t>
            </a:r>
            <a:r>
              <a:rPr lang="es-ES" dirty="0"/>
              <a:t> texto); // "</a:t>
            </a:r>
            <a:r>
              <a:rPr lang="es-ES" dirty="0" err="1"/>
              <a:t>string</a:t>
            </a:r>
            <a:r>
              <a:rPr lang="es-ES" dirty="0"/>
              <a:t>"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CE1A58C-3633-4A3D-CD1C-0F5E54073643}"/>
              </a:ext>
            </a:extLst>
          </p:cNvPr>
          <p:cNvSpPr txBox="1"/>
          <p:nvPr/>
        </p:nvSpPr>
        <p:spPr>
          <a:xfrm>
            <a:off x="908020" y="5687040"/>
            <a:ext cx="7688179" cy="47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ES" sz="1900" dirty="0"/>
              <a:t>Esto pasa con otros tipos primitivos como </a:t>
            </a:r>
            <a:r>
              <a:rPr lang="es-ES" sz="1900" dirty="0" err="1"/>
              <a:t>Number</a:t>
            </a:r>
            <a:r>
              <a:rPr lang="es-ES" sz="1900" dirty="0"/>
              <a:t> y </a:t>
            </a:r>
            <a:r>
              <a:rPr lang="es-ES" sz="1900" dirty="0" err="1"/>
              <a:t>Boleean</a:t>
            </a:r>
            <a:r>
              <a:rPr lang="es-ES" sz="1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001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1.1.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String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5652996-94F8-4D2C-305F-C0A5124B7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651794"/>
              </p:ext>
            </p:extLst>
          </p:nvPr>
        </p:nvGraphicFramePr>
        <p:xfrm>
          <a:off x="1463841" y="2467810"/>
          <a:ext cx="6729663" cy="19419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663">
                  <a:extLst>
                    <a:ext uri="{9D8B030D-6E8A-4147-A177-3AD203B41FA5}">
                      <a16:colId xmlns:a16="http://schemas.microsoft.com/office/drawing/2014/main" val="1718146889"/>
                    </a:ext>
                  </a:extLst>
                </a:gridCol>
              </a:tblGrid>
              <a:tr h="350635">
                <a:tc>
                  <a:txBody>
                    <a:bodyPr/>
                    <a:lstStyle/>
                    <a:p>
                      <a:pPr algn="ctr"/>
                      <a:r>
                        <a:rPr lang="ca-ES" dirty="0" err="1"/>
                        <a:t>Propiedades</a:t>
                      </a:r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80748"/>
                  </a:ext>
                </a:extLst>
              </a:tr>
              <a:tr h="605207">
                <a:tc>
                  <a:txBody>
                    <a:bodyPr/>
                    <a:lstStyle/>
                    <a:p>
                      <a:r>
                        <a:rPr lang="es-ES" dirty="0" err="1"/>
                        <a:t>Prototype</a:t>
                      </a:r>
                      <a:r>
                        <a:rPr lang="es-ES" dirty="0"/>
                        <a:t>: permite añadir propiedades y métodos al objeto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73295"/>
                  </a:ext>
                </a:extLst>
              </a:tr>
              <a:tr h="6052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Constructor: devuelve la función constructora de la cadena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43813"/>
                  </a:ext>
                </a:extLst>
              </a:tr>
              <a:tr h="3506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Length</a:t>
                      </a:r>
                      <a:r>
                        <a:rPr lang="es-ES" dirty="0"/>
                        <a:t>: devuelve la longitud de la cadena</a:t>
                      </a:r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697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260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1.1.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String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8A85B99-126F-3637-15D0-DED77214B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12773"/>
              </p:ext>
            </p:extLst>
          </p:nvPr>
        </p:nvGraphicFramePr>
        <p:xfrm>
          <a:off x="493294" y="1813291"/>
          <a:ext cx="8373980" cy="406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3980">
                  <a:extLst>
                    <a:ext uri="{9D8B030D-6E8A-4147-A177-3AD203B41FA5}">
                      <a16:colId xmlns:a16="http://schemas.microsoft.com/office/drawing/2014/main" val="156481767"/>
                    </a:ext>
                  </a:extLst>
                </a:gridCol>
              </a:tblGrid>
              <a:tr h="387926">
                <a:tc>
                  <a:txBody>
                    <a:bodyPr/>
                    <a:lstStyle/>
                    <a:p>
                      <a:pPr algn="ctr"/>
                      <a:r>
                        <a:rPr lang="ca-ES" sz="1400" dirty="0" err="1"/>
                        <a:t>Métodos</a:t>
                      </a:r>
                      <a:endParaRPr lang="ca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45309"/>
                  </a:ext>
                </a:extLst>
              </a:tr>
              <a:tr h="180476">
                <a:tc>
                  <a:txBody>
                    <a:bodyPr/>
                    <a:lstStyle/>
                    <a:p>
                      <a:r>
                        <a:rPr lang="es-ES" sz="1400" dirty="0" err="1"/>
                        <a:t>charAt</a:t>
                      </a:r>
                      <a:r>
                        <a:rPr lang="es-ES" sz="1400" dirty="0"/>
                        <a:t>(x): devuelve el carácter de la posición x (comenzando por el 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663225"/>
                  </a:ext>
                </a:extLst>
              </a:tr>
              <a:tr h="143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concat</a:t>
                      </a:r>
                      <a:r>
                        <a:rPr lang="es-ES" sz="1400" dirty="0"/>
                        <a:t>(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): concatena la cadena 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 en la cadena original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609740"/>
                  </a:ext>
                </a:extLst>
              </a:tr>
              <a:tr h="3879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startsWith</a:t>
                      </a:r>
                      <a:r>
                        <a:rPr lang="es-ES" sz="1400" dirty="0"/>
                        <a:t>(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): comprueba si la cadena comienza con los caracteres o cadena especificados.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23150"/>
                  </a:ext>
                </a:extLst>
              </a:tr>
              <a:tr h="3879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endsWith</a:t>
                      </a:r>
                      <a:r>
                        <a:rPr lang="es-ES" sz="1400" dirty="0"/>
                        <a:t>(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): comprueba si la cadena termina con los caracteres o cadena especificados.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963510"/>
                  </a:ext>
                </a:extLst>
              </a:tr>
              <a:tr h="3879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includes</a:t>
                      </a:r>
                      <a:r>
                        <a:rPr lang="es-ES" sz="1400" dirty="0"/>
                        <a:t>(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): comprueba si la cadena contiene los caracteres o cadena especificados.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566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indexOf</a:t>
                      </a:r>
                      <a:r>
                        <a:rPr lang="es-ES" sz="1400" dirty="0"/>
                        <a:t>(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): devuelve la posición de la primera ocurrencia de la cadena que pasamos como parámetro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282983"/>
                  </a:ext>
                </a:extLst>
              </a:tr>
              <a:tr h="542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lastIndexOf</a:t>
                      </a:r>
                      <a:r>
                        <a:rPr lang="es-ES" sz="1400" dirty="0"/>
                        <a:t>(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): devuelve la posición de la última ocurrencia de la cadena que pasamos como parámetro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805397"/>
                  </a:ext>
                </a:extLst>
              </a:tr>
              <a:tr h="5420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match(</a:t>
                      </a:r>
                      <a:r>
                        <a:rPr lang="es-ES" sz="1400" dirty="0" err="1"/>
                        <a:t>regexp</a:t>
                      </a:r>
                      <a:r>
                        <a:rPr lang="es-ES" sz="1400" dirty="0"/>
                        <a:t>): busca en una cadena comparándola con la expresión regular </a:t>
                      </a:r>
                      <a:r>
                        <a:rPr lang="es-ES" sz="1400" dirty="0" err="1"/>
                        <a:t>regexp</a:t>
                      </a:r>
                      <a:r>
                        <a:rPr lang="es-ES" sz="1400" dirty="0"/>
                        <a:t>, y devuelve las coincidencias en un array</a:t>
                      </a:r>
                      <a:endParaRPr lang="ca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501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repeat</a:t>
                      </a:r>
                      <a:r>
                        <a:rPr lang="es-ES" sz="1400" dirty="0"/>
                        <a:t>(x): devuelve una nueva cadena que es la repetición de la cadena tantas veces como el valor del parámetro.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728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885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1.1.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String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8A85B99-126F-3637-15D0-DED77214B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354457"/>
              </p:ext>
            </p:extLst>
          </p:nvPr>
        </p:nvGraphicFramePr>
        <p:xfrm>
          <a:off x="493294" y="1813293"/>
          <a:ext cx="8373980" cy="405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3980">
                  <a:extLst>
                    <a:ext uri="{9D8B030D-6E8A-4147-A177-3AD203B41FA5}">
                      <a16:colId xmlns:a16="http://schemas.microsoft.com/office/drawing/2014/main" val="156481767"/>
                    </a:ext>
                  </a:extLst>
                </a:gridCol>
              </a:tblGrid>
              <a:tr h="374444">
                <a:tc>
                  <a:txBody>
                    <a:bodyPr/>
                    <a:lstStyle/>
                    <a:p>
                      <a:pPr algn="ctr"/>
                      <a:r>
                        <a:rPr lang="ca-ES" sz="1400" dirty="0" err="1"/>
                        <a:t>Métodos</a:t>
                      </a:r>
                      <a:endParaRPr lang="ca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45309"/>
                  </a:ext>
                </a:extLst>
              </a:tr>
              <a:tr h="4491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xreplace</a:t>
                      </a:r>
                      <a:r>
                        <a:rPr lang="es-ES" sz="1400" dirty="0"/>
                        <a:t>(str1, str2): busca dentro de la cadena los caracteres (o expresión regular) str1, y devuelve una cadena con estos valores reemplazados por el segundo parámetro str2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663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search</a:t>
                      </a:r>
                      <a:r>
                        <a:rPr lang="es-ES" sz="1400" dirty="0"/>
                        <a:t>(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): busca dentro de la cadena los caracteres (o expresión regular) </a:t>
                      </a:r>
                      <a:r>
                        <a:rPr lang="es-ES" sz="1400" dirty="0" err="1"/>
                        <a:t>str</a:t>
                      </a:r>
                      <a:r>
                        <a:rPr lang="es-ES" sz="1400" dirty="0"/>
                        <a:t>, y devuelve la posición de la primera ocurrencia.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23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slice</a:t>
                      </a:r>
                      <a:r>
                        <a:rPr lang="es-ES" sz="1400" dirty="0"/>
                        <a:t>(</a:t>
                      </a:r>
                      <a:r>
                        <a:rPr lang="es-ES" sz="1400" dirty="0" err="1"/>
                        <a:t>x,y</a:t>
                      </a:r>
                      <a:r>
                        <a:rPr lang="es-ES" sz="1400" dirty="0"/>
                        <a:t>): extrae una parte de una cadena entre los caracteres x e y, y devuelve una nueva cadena.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96351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0170" marR="179070">
                        <a:lnSpc>
                          <a:spcPts val="1340"/>
                        </a:lnSpc>
                        <a:spcBef>
                          <a:spcPts val="385"/>
                        </a:spcBef>
                      </a:pPr>
                      <a:r>
                        <a:rPr lang="es-ES" sz="1400" dirty="0" err="1"/>
                        <a:t>split</a:t>
                      </a:r>
                      <a:r>
                        <a:rPr lang="es-ES" sz="1400" dirty="0"/>
                        <a:t>(car): separa una cadena en un array de </a:t>
                      </a:r>
                      <a:r>
                        <a:rPr lang="es-ES" sz="1400" dirty="0" err="1"/>
                        <a:t>subcadenas</a:t>
                      </a:r>
                      <a:r>
                        <a:rPr lang="es-ES" sz="1400" dirty="0"/>
                        <a:t>, cogiendo como separador el carácter car.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extLst>
                  <a:ext uri="{0D108BD9-81ED-4DB2-BD59-A6C34878D82A}">
                    <a16:rowId xmlns:a16="http://schemas.microsoft.com/office/drawing/2014/main" val="1650566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0170" marR="306705">
                        <a:lnSpc>
                          <a:spcPct val="93400"/>
                        </a:lnSpc>
                        <a:spcBef>
                          <a:spcPts val="355"/>
                        </a:spcBef>
                      </a:pPr>
                      <a:r>
                        <a:rPr lang="es-ES" sz="1400" dirty="0" err="1"/>
                        <a:t>substr</a:t>
                      </a:r>
                      <a:r>
                        <a:rPr lang="es-ES" sz="1400" dirty="0"/>
                        <a:t>(x, y): extrae caracteres de una cadena, empezando en la posición x, y el número de caracteres especificado por y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638682917"/>
                  </a:ext>
                </a:extLst>
              </a:tr>
              <a:tr h="299166">
                <a:tc>
                  <a:txBody>
                    <a:bodyPr/>
                    <a:lstStyle/>
                    <a:p>
                      <a:pPr marL="90170" marR="541020">
                        <a:lnSpc>
                          <a:spcPct val="93400"/>
                        </a:lnSpc>
                        <a:spcBef>
                          <a:spcPts val="355"/>
                        </a:spcBef>
                      </a:pPr>
                      <a:r>
                        <a:rPr lang="es-ES" sz="1400" dirty="0" err="1"/>
                        <a:t>substring</a:t>
                      </a:r>
                      <a:r>
                        <a:rPr lang="es-ES" sz="1400" dirty="0"/>
                        <a:t>(x, y): extrae caracteres de una cadena entre los dos índices especificados, x e y.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3206709500"/>
                  </a:ext>
                </a:extLst>
              </a:tr>
              <a:tr h="258990">
                <a:tc>
                  <a:txBody>
                    <a:bodyPr/>
                    <a:lstStyle/>
                    <a:p>
                      <a:pPr marL="90170">
                        <a:lnSpc>
                          <a:spcPts val="1395"/>
                        </a:lnSpc>
                        <a:spcBef>
                          <a:spcPts val="260"/>
                        </a:spcBef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toLowerCase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convierte una cadena a minúsculas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3114468848"/>
                  </a:ext>
                </a:extLst>
              </a:tr>
              <a:tr h="277713">
                <a:tc>
                  <a:txBody>
                    <a:bodyPr/>
                    <a:lstStyle/>
                    <a:p>
                      <a:pPr marL="90170" marR="311150">
                        <a:lnSpc>
                          <a:spcPts val="1350"/>
                        </a:lnSpc>
                        <a:spcBef>
                          <a:spcPts val="380"/>
                        </a:spcBef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toUpperCase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convierte una cadena a mayúsculas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677282983"/>
                  </a:ext>
                </a:extLst>
              </a:tr>
              <a:tr h="277713">
                <a:tc>
                  <a:txBody>
                    <a:bodyPr/>
                    <a:lstStyle/>
                    <a:p>
                      <a:pPr marL="90170" marR="311150">
                        <a:lnSpc>
                          <a:spcPts val="1350"/>
                        </a:lnSpc>
                        <a:spcBef>
                          <a:spcPts val="380"/>
                        </a:spcBef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trim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elimina los espacios en blanco de ambos extremos de la cadena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21462863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0170" marR="130810">
                        <a:lnSpc>
                          <a:spcPts val="1340"/>
                        </a:lnSpc>
                        <a:spcBef>
                          <a:spcPts val="385"/>
                        </a:spcBef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toString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devuelve el valor de un objeto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48895" marB="0"/>
                </a:tc>
                <a:extLst>
                  <a:ext uri="{0D108BD9-81ED-4DB2-BD59-A6C34878D82A}">
                    <a16:rowId xmlns:a16="http://schemas.microsoft.com/office/drawing/2014/main" val="70480539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90170" marR="213995">
                        <a:lnSpc>
                          <a:spcPts val="1340"/>
                        </a:lnSpc>
                        <a:spcBef>
                          <a:spcPts val="385"/>
                        </a:spcBef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StringvalueOf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devuelve el tipo primitivo de un objeto </a:t>
                      </a:r>
                      <a:r>
                        <a:rPr lang="es-ES" sz="1400" dirty="0" err="1">
                          <a:latin typeface="Arial MT"/>
                          <a:cs typeface="Arial MT"/>
                        </a:rPr>
                        <a:t>String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8895" marB="0"/>
                </a:tc>
                <a:extLst>
                  <a:ext uri="{0D108BD9-81ED-4DB2-BD59-A6C34878D82A}">
                    <a16:rowId xmlns:a16="http://schemas.microsoft.com/office/drawing/2014/main" val="3650501137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12E0B20C-BF24-1EF8-12B6-F27E8696DBCE}"/>
              </a:ext>
            </a:extLst>
          </p:cNvPr>
          <p:cNvSpPr/>
          <p:nvPr/>
        </p:nvSpPr>
        <p:spPr>
          <a:xfrm>
            <a:off x="1711841" y="6007395"/>
            <a:ext cx="5209954" cy="4678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minusculas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texto.</a:t>
            </a:r>
            <a:r>
              <a:rPr lang="es-ES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697828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1.2.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Number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DBFAF2-E41F-3B8E-2496-39FE74466093}"/>
              </a:ext>
            </a:extLst>
          </p:cNvPr>
          <p:cNvSpPr txBox="1"/>
          <p:nvPr/>
        </p:nvSpPr>
        <p:spPr>
          <a:xfrm>
            <a:off x="800821" y="1996578"/>
            <a:ext cx="75423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ca-ES" sz="2000" dirty="0"/>
              <a:t>En </a:t>
            </a:r>
            <a:r>
              <a:rPr lang="ca-ES" sz="2000" dirty="0" err="1"/>
              <a:t>JavaScript</a:t>
            </a:r>
            <a:r>
              <a:rPr lang="ca-ES" sz="2000" dirty="0"/>
              <a:t>, a diferencia de </a:t>
            </a:r>
            <a:r>
              <a:rPr lang="ca-ES" sz="2000" dirty="0" err="1"/>
              <a:t>otros</a:t>
            </a:r>
            <a:r>
              <a:rPr lang="ca-ES" sz="2000" dirty="0"/>
              <a:t> </a:t>
            </a:r>
            <a:r>
              <a:rPr lang="ca-ES" sz="2000" dirty="0" err="1"/>
              <a:t>lenguajes</a:t>
            </a:r>
            <a:r>
              <a:rPr lang="ca-ES" sz="2000" dirty="0"/>
              <a:t> de </a:t>
            </a:r>
            <a:r>
              <a:rPr lang="ca-ES" sz="2000" dirty="0" err="1"/>
              <a:t>programación</a:t>
            </a:r>
            <a:r>
              <a:rPr lang="ca-ES" sz="2000" dirty="0"/>
              <a:t>, </a:t>
            </a:r>
            <a:r>
              <a:rPr lang="ca-ES" sz="2000" dirty="0" err="1"/>
              <a:t>sólo</a:t>
            </a:r>
            <a:r>
              <a:rPr lang="ca-ES" sz="2000" dirty="0"/>
              <a:t> </a:t>
            </a:r>
            <a:r>
              <a:rPr lang="ca-ES" sz="2000" dirty="0" err="1"/>
              <a:t>existe</a:t>
            </a:r>
            <a:r>
              <a:rPr lang="ca-ES" sz="2000" dirty="0"/>
              <a:t> un tipo de </a:t>
            </a:r>
            <a:r>
              <a:rPr lang="ca-ES" sz="2000" dirty="0" err="1"/>
              <a:t>datos</a:t>
            </a:r>
            <a:r>
              <a:rPr lang="ca-ES" sz="2000" dirty="0"/>
              <a:t> para los números. Todos los números se </a:t>
            </a:r>
            <a:r>
              <a:rPr lang="ca-ES" sz="2000" dirty="0" err="1"/>
              <a:t>guardan</a:t>
            </a:r>
            <a:r>
              <a:rPr lang="ca-ES" sz="2000" dirty="0"/>
              <a:t> en </a:t>
            </a:r>
            <a:r>
              <a:rPr lang="ca-ES" sz="2000" dirty="0" err="1"/>
              <a:t>memoria</a:t>
            </a:r>
            <a:r>
              <a:rPr lang="ca-ES" sz="2000" dirty="0"/>
              <a:t> con una </a:t>
            </a:r>
            <a:r>
              <a:rPr lang="ca-ES" sz="2000" dirty="0" err="1"/>
              <a:t>resolución</a:t>
            </a:r>
            <a:r>
              <a:rPr lang="ca-ES" sz="2000" dirty="0"/>
              <a:t> de 64 bits (doble </a:t>
            </a:r>
            <a:r>
              <a:rPr lang="ca-ES" sz="2000" dirty="0" err="1"/>
              <a:t>precisión</a:t>
            </a:r>
            <a:r>
              <a:rPr lang="ca-ES" sz="2000" dirty="0"/>
              <a:t>) y coma </a:t>
            </a:r>
            <a:r>
              <a:rPr lang="ca-ES" sz="2000" dirty="0" err="1"/>
              <a:t>flotante</a:t>
            </a:r>
            <a:r>
              <a:rPr lang="ca-ES" sz="2000" dirty="0"/>
              <a:t>.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E1BABC6B-7797-03A8-4402-DDC4D75AFAD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1871" y="3645093"/>
            <a:ext cx="3695700" cy="193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0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1.2.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Number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DBFAF2-E41F-3B8E-2496-39FE74466093}"/>
              </a:ext>
            </a:extLst>
          </p:cNvPr>
          <p:cNvSpPr txBox="1"/>
          <p:nvPr/>
        </p:nvSpPr>
        <p:spPr>
          <a:xfrm>
            <a:off x="800821" y="1996578"/>
            <a:ext cx="75423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Además de la notación decimal, podemos representar a los números en binario, octal o hexadecimal.</a:t>
            </a:r>
            <a:endParaRPr lang="ca-ES" sz="20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054E96-0F89-5358-6CBA-CFB975FFAF30}"/>
              </a:ext>
            </a:extLst>
          </p:cNvPr>
          <p:cNvSpPr/>
          <p:nvPr/>
        </p:nvSpPr>
        <p:spPr>
          <a:xfrm>
            <a:off x="2576437" y="3216213"/>
            <a:ext cx="3042312" cy="93732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0b1010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0xFF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05CB2E-B4FC-D280-8BD1-AC3CE885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4681099"/>
            <a:ext cx="87439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41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1.2.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Number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DBFAF2-E41F-3B8E-2496-39FE74466093}"/>
              </a:ext>
            </a:extLst>
          </p:cNvPr>
          <p:cNvSpPr txBox="1"/>
          <p:nvPr/>
        </p:nvSpPr>
        <p:spPr>
          <a:xfrm>
            <a:off x="800821" y="1996578"/>
            <a:ext cx="75423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Y con el método .</a:t>
            </a:r>
            <a:r>
              <a:rPr lang="es-ES" sz="2000" dirty="0" err="1"/>
              <a:t>toString</a:t>
            </a:r>
            <a:r>
              <a:rPr lang="es-ES" sz="2000" dirty="0"/>
              <a:t>() podemos representar los números en distintas notaciones:</a:t>
            </a:r>
            <a:endParaRPr lang="ca-ES" sz="20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054E96-0F89-5358-6CBA-CFB975FFAF30}"/>
              </a:ext>
            </a:extLst>
          </p:cNvPr>
          <p:cNvSpPr/>
          <p:nvPr/>
        </p:nvSpPr>
        <p:spPr>
          <a:xfrm>
            <a:off x="1046747" y="3043989"/>
            <a:ext cx="7110664" cy="20934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76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num.</a:t>
            </a:r>
            <a:r>
              <a:rPr lang="es-ES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 en hexadecimal"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num.</a:t>
            </a:r>
            <a:r>
              <a:rPr lang="es-ES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 en octal"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num.</a:t>
            </a:r>
            <a:r>
              <a:rPr lang="es-ES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 en </a:t>
            </a:r>
            <a:r>
              <a:rPr lang="es-ES" b="0" dirty="0" err="1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binari</a:t>
            </a:r>
            <a:r>
              <a:rPr lang="es-E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num.</a:t>
            </a:r>
            <a:r>
              <a:rPr lang="es-ES" b="0" dirty="0" err="1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s-ES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string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757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1.2.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Number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DBFAF2-E41F-3B8E-2496-39FE74466093}"/>
              </a:ext>
            </a:extLst>
          </p:cNvPr>
          <p:cNvSpPr txBox="1"/>
          <p:nvPr/>
        </p:nvSpPr>
        <p:spPr>
          <a:xfrm>
            <a:off x="800821" y="1996578"/>
            <a:ext cx="754235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 err="1"/>
              <a:t>Infinity</a:t>
            </a:r>
            <a:r>
              <a:rPr lang="es-ES" sz="2000" dirty="0"/>
              <a:t> es el valor para representar que hemos sobrepasado la precisión de los números (que es de hasta 15 dígitos en la parte entera):</a:t>
            </a:r>
          </a:p>
          <a:p>
            <a:pPr algn="just"/>
            <a:endParaRPr lang="es-ES" sz="2000" dirty="0"/>
          </a:p>
          <a:p>
            <a:pPr algn="just"/>
            <a:endParaRPr lang="es-ES" sz="2000" dirty="0"/>
          </a:p>
          <a:p>
            <a:pPr algn="just"/>
            <a:r>
              <a:rPr lang="es-ES" sz="2000" dirty="0" err="1"/>
              <a:t>Not</a:t>
            </a:r>
            <a:r>
              <a:rPr lang="es-ES" sz="2000" dirty="0"/>
              <a:t> a </a:t>
            </a:r>
            <a:r>
              <a:rPr lang="es-ES" sz="2000" dirty="0" err="1"/>
              <a:t>Number</a:t>
            </a:r>
            <a:r>
              <a:rPr lang="es-ES" sz="2000" dirty="0"/>
              <a:t> (</a:t>
            </a:r>
            <a:r>
              <a:rPr lang="es-ES" sz="2000" dirty="0" err="1"/>
              <a:t>NaN</a:t>
            </a:r>
            <a:r>
              <a:rPr lang="es-ES" sz="2000" dirty="0"/>
              <a:t>) es una palabra reservada para indicar que el valor no representa un número. Podemos utilizar la función global </a:t>
            </a:r>
            <a:r>
              <a:rPr lang="es-ES" sz="2000" dirty="0" err="1"/>
              <a:t>isNaN</a:t>
            </a:r>
            <a:r>
              <a:rPr lang="es-ES" sz="2000" dirty="0"/>
              <a:t>() para saber si el argumento es un número:</a:t>
            </a:r>
            <a:endParaRPr lang="ca-ES" sz="20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054E96-0F89-5358-6CBA-CFB975FFAF30}"/>
              </a:ext>
            </a:extLst>
          </p:cNvPr>
          <p:cNvSpPr/>
          <p:nvPr/>
        </p:nvSpPr>
        <p:spPr>
          <a:xfrm>
            <a:off x="619343" y="4840978"/>
            <a:ext cx="7905311" cy="12019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//NaN. Recordad que 3+"a" devuelve "3a"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//false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isNaN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ES" b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//true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2CF7994-D67E-C119-26EE-C43BE8D2EEDC}"/>
              </a:ext>
            </a:extLst>
          </p:cNvPr>
          <p:cNvSpPr/>
          <p:nvPr/>
        </p:nvSpPr>
        <p:spPr>
          <a:xfrm>
            <a:off x="1959142" y="2887390"/>
            <a:ext cx="5225715" cy="40263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 devuelve </a:t>
            </a:r>
            <a:r>
              <a:rPr lang="es-ES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infinity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744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1.2.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Number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DBFAF2-E41F-3B8E-2496-39FE74466093}"/>
              </a:ext>
            </a:extLst>
          </p:cNvPr>
          <p:cNvSpPr txBox="1"/>
          <p:nvPr/>
        </p:nvSpPr>
        <p:spPr>
          <a:xfrm>
            <a:off x="800821" y="1996578"/>
            <a:ext cx="75423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Al igual que ocurre con las cadenas, en JavaScript normalmente los números son tipos primitivos, pero también los podemos crear como objetos: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054E96-0F89-5358-6CBA-CFB975FFAF30}"/>
              </a:ext>
            </a:extLst>
          </p:cNvPr>
          <p:cNvSpPr/>
          <p:nvPr/>
        </p:nvSpPr>
        <p:spPr>
          <a:xfrm>
            <a:off x="1630999" y="3429000"/>
            <a:ext cx="5227001" cy="19250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//tipo primitivo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y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s-ES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 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x);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s-ES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 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y);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s-ES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object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(x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y);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//true 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(x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y);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//false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305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1.2.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Number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EAB2DDC-D0A2-D77B-CA07-D29EB12AB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280146"/>
              </p:ext>
            </p:extLst>
          </p:nvPr>
        </p:nvGraphicFramePr>
        <p:xfrm>
          <a:off x="1463841" y="2467810"/>
          <a:ext cx="6729663" cy="1586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663">
                  <a:extLst>
                    <a:ext uri="{9D8B030D-6E8A-4147-A177-3AD203B41FA5}">
                      <a16:colId xmlns:a16="http://schemas.microsoft.com/office/drawing/2014/main" val="1718146889"/>
                    </a:ext>
                  </a:extLst>
                </a:gridCol>
              </a:tblGrid>
              <a:tr h="528944">
                <a:tc>
                  <a:txBody>
                    <a:bodyPr/>
                    <a:lstStyle/>
                    <a:p>
                      <a:pPr algn="ctr"/>
                      <a:r>
                        <a:rPr lang="ca-ES" dirty="0" err="1"/>
                        <a:t>Propiedades</a:t>
                      </a:r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80748"/>
                  </a:ext>
                </a:extLst>
              </a:tr>
              <a:tr h="528944">
                <a:tc>
                  <a:txBody>
                    <a:bodyPr/>
                    <a:lstStyle/>
                    <a:p>
                      <a:r>
                        <a:rPr lang="es-ES" dirty="0" err="1"/>
                        <a:t>Prototype</a:t>
                      </a:r>
                      <a:r>
                        <a:rPr lang="es-ES" dirty="0"/>
                        <a:t>: permite añadir propiedades y métodos al objeto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73295"/>
                  </a:ext>
                </a:extLst>
              </a:tr>
              <a:tr h="528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NaN</a:t>
                      </a:r>
                      <a:r>
                        <a:rPr lang="es-ES" dirty="0"/>
                        <a:t>: representa un valor no numérico</a:t>
                      </a:r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43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050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1.2.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Number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B579A376-088A-9458-4545-F16BF7E80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074249"/>
              </p:ext>
            </p:extLst>
          </p:nvPr>
        </p:nvGraphicFramePr>
        <p:xfrm>
          <a:off x="493294" y="1813293"/>
          <a:ext cx="8373980" cy="4341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3980">
                  <a:extLst>
                    <a:ext uri="{9D8B030D-6E8A-4147-A177-3AD203B41FA5}">
                      <a16:colId xmlns:a16="http://schemas.microsoft.com/office/drawing/2014/main" val="156481767"/>
                    </a:ext>
                  </a:extLst>
                </a:gridCol>
              </a:tblGrid>
              <a:tr h="393747">
                <a:tc>
                  <a:txBody>
                    <a:bodyPr/>
                    <a:lstStyle/>
                    <a:p>
                      <a:pPr algn="ctr"/>
                      <a:r>
                        <a:rPr lang="ca-ES" sz="1400" dirty="0" err="1"/>
                        <a:t>Métodos</a:t>
                      </a:r>
                      <a:endParaRPr lang="ca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45309"/>
                  </a:ext>
                </a:extLst>
              </a:tr>
              <a:tr h="3937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isFinite</a:t>
                      </a:r>
                      <a:r>
                        <a:rPr lang="es-ES" sz="1400" dirty="0"/>
                        <a:t>(): comprueba si un valor es un número finito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663225"/>
                  </a:ext>
                </a:extLst>
              </a:tr>
              <a:tr h="3959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isInteger</a:t>
                      </a:r>
                      <a:r>
                        <a:rPr lang="es-ES" sz="1400" dirty="0"/>
                        <a:t>(): comprueba si un valor es un entero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23150"/>
                  </a:ext>
                </a:extLst>
              </a:tr>
              <a:tr h="3937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isNaN</a:t>
                      </a:r>
                      <a:r>
                        <a:rPr lang="es-ES" sz="1400" dirty="0"/>
                        <a:t>(): comprueba si un valor es un </a:t>
                      </a:r>
                      <a:r>
                        <a:rPr lang="es-ES" sz="1400" dirty="0" err="1"/>
                        <a:t>NaN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963510"/>
                  </a:ext>
                </a:extLst>
              </a:tr>
              <a:tr h="489723">
                <a:tc>
                  <a:txBody>
                    <a:bodyPr/>
                    <a:lstStyle/>
                    <a:p>
                      <a:pPr marL="90170" marR="179070" lvl="0" indent="0" algn="l" defTabSz="914400" rtl="0" eaLnBrk="1" fontAlgn="auto" latinLnBrk="0" hangingPunct="1">
                        <a:lnSpc>
                          <a:spcPts val="134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toExponential</a:t>
                      </a:r>
                      <a:r>
                        <a:rPr lang="es-ES" sz="1400" dirty="0"/>
                        <a:t>(x): representa un numero con su notación exponencial. Por ejemplo, 20,31 a 2.031e+1, que significa 2.031 * 10ˆ1.</a:t>
                      </a:r>
                    </a:p>
                  </a:txBody>
                  <a:tcPr marL="0" marR="0" marT="48895" marB="0"/>
                </a:tc>
                <a:extLst>
                  <a:ext uri="{0D108BD9-81ED-4DB2-BD59-A6C34878D82A}">
                    <a16:rowId xmlns:a16="http://schemas.microsoft.com/office/drawing/2014/main" val="1650566011"/>
                  </a:ext>
                </a:extLst>
              </a:tr>
              <a:tr h="570934">
                <a:tc>
                  <a:txBody>
                    <a:bodyPr/>
                    <a:lstStyle/>
                    <a:p>
                      <a:pPr marL="90170" marR="306705" lvl="0" indent="0" algn="l" defTabSz="914400" rtl="0" eaLnBrk="1" fontAlgn="auto" latinLnBrk="0" hangingPunct="1">
                        <a:lnSpc>
                          <a:spcPct val="934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toFixed</a:t>
                      </a:r>
                      <a:r>
                        <a:rPr lang="es-ES" sz="1400" dirty="0"/>
                        <a:t>(n): formatea un numero con una precisión decimal de n dígitos. Devuelve una cadena que es la representación del número</a:t>
                      </a: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638682917"/>
                  </a:ext>
                </a:extLst>
              </a:tr>
              <a:tr h="570934">
                <a:tc>
                  <a:txBody>
                    <a:bodyPr/>
                    <a:lstStyle/>
                    <a:p>
                      <a:pPr marL="90170" marR="541020" lvl="0" indent="0" algn="l" defTabSz="914400" rtl="0" eaLnBrk="1" fontAlgn="auto" latinLnBrk="0" hangingPunct="1">
                        <a:lnSpc>
                          <a:spcPct val="934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toPrecision</a:t>
                      </a:r>
                      <a:r>
                        <a:rPr lang="es-ES" sz="1400" dirty="0"/>
                        <a:t>(n): formatea un numero a una precisión de n </a:t>
                      </a:r>
                      <a:r>
                        <a:rPr lang="es-ES" sz="1400" dirty="0" err="1"/>
                        <a:t>digitos</a:t>
                      </a:r>
                      <a:r>
                        <a:rPr lang="es-ES" sz="1400" dirty="0"/>
                        <a:t> (número total de dígitos, incluyendo la parte entera y la decimal).</a:t>
                      </a: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3206709500"/>
                  </a:ext>
                </a:extLst>
              </a:tr>
              <a:tr h="272342">
                <a:tc>
                  <a:txBody>
                    <a:bodyPr/>
                    <a:lstStyle/>
                    <a:p>
                      <a:pPr marL="90170">
                        <a:lnSpc>
                          <a:spcPts val="1395"/>
                        </a:lnSpc>
                        <a:spcBef>
                          <a:spcPts val="260"/>
                        </a:spcBef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toString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convierte un número en una cadena</a:t>
                      </a: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3114468848"/>
                  </a:ext>
                </a:extLst>
              </a:tr>
              <a:tr h="292029">
                <a:tc>
                  <a:txBody>
                    <a:bodyPr/>
                    <a:lstStyle/>
                    <a:p>
                      <a:pPr marL="90170" marR="311150" lvl="0" indent="0" algn="l" defTabSz="914400" rtl="0" eaLnBrk="1" fontAlgn="auto" latinLnBrk="0" hangingPunct="1">
                        <a:lnSpc>
                          <a:spcPts val="1350"/>
                        </a:lnSpc>
                        <a:spcBef>
                          <a:spcPts val="3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parseInt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convierte un número entero.</a:t>
                      </a: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677282983"/>
                  </a:ext>
                </a:extLst>
              </a:tr>
              <a:tr h="292029">
                <a:tc>
                  <a:txBody>
                    <a:bodyPr/>
                    <a:lstStyle/>
                    <a:p>
                      <a:pPr marL="90170" marR="311150" lvl="0" indent="0" algn="l" defTabSz="914400" rtl="0" eaLnBrk="1" fontAlgn="auto" latinLnBrk="0" hangingPunct="1">
                        <a:lnSpc>
                          <a:spcPts val="1350"/>
                        </a:lnSpc>
                        <a:spcBef>
                          <a:spcPts val="3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parseFloat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convierte un número a decimal</a:t>
                      </a: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214628633"/>
                  </a:ext>
                </a:extLst>
              </a:tr>
              <a:tr h="276443">
                <a:tc>
                  <a:txBody>
                    <a:bodyPr/>
                    <a:lstStyle/>
                    <a:p>
                      <a:pPr marL="90170" marR="130810" lvl="0" indent="0" algn="l" defTabSz="914400" rtl="0" eaLnBrk="1" fontAlgn="auto" latinLnBrk="0" hangingPunct="1">
                        <a:lnSpc>
                          <a:spcPts val="134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valueOf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devuelve el valor del tipo primitivo del número</a:t>
                      </a:r>
                    </a:p>
                  </a:txBody>
                  <a:tcPr marL="0" marR="0" marT="48895" marB="0"/>
                </a:tc>
                <a:extLst>
                  <a:ext uri="{0D108BD9-81ED-4DB2-BD59-A6C34878D82A}">
                    <a16:rowId xmlns:a16="http://schemas.microsoft.com/office/drawing/2014/main" val="704805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01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1.3.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Math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495C9CB-4612-8471-427B-9EA0E357A5EA}"/>
              </a:ext>
            </a:extLst>
          </p:cNvPr>
          <p:cNvSpPr txBox="1"/>
          <p:nvPr/>
        </p:nvSpPr>
        <p:spPr>
          <a:xfrm>
            <a:off x="800820" y="1996578"/>
            <a:ext cx="7542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2000" dirty="0"/>
              <a:t>El </a:t>
            </a:r>
            <a:r>
              <a:rPr lang="ca-ES" sz="2000" dirty="0" err="1"/>
              <a:t>objeto</a:t>
            </a:r>
            <a:r>
              <a:rPr lang="ca-ES" sz="2000" dirty="0"/>
              <a:t> </a:t>
            </a:r>
            <a:r>
              <a:rPr lang="ca-ES" sz="2000" dirty="0" err="1"/>
              <a:t>Math</a:t>
            </a:r>
            <a:r>
              <a:rPr lang="ca-ES" sz="2000" dirty="0"/>
              <a:t> es especial en el </a:t>
            </a:r>
            <a:r>
              <a:rPr lang="ca-ES" sz="2000" dirty="0" err="1"/>
              <a:t>sentido</a:t>
            </a:r>
            <a:r>
              <a:rPr lang="ca-ES" sz="2000" dirty="0"/>
              <a:t> de que no </a:t>
            </a:r>
            <a:r>
              <a:rPr lang="ca-ES" sz="2000" dirty="0" err="1"/>
              <a:t>tiene</a:t>
            </a:r>
            <a:r>
              <a:rPr lang="ca-ES" sz="2000" dirty="0"/>
              <a:t> constructor. No </a:t>
            </a:r>
            <a:r>
              <a:rPr lang="ca-ES" sz="2000" dirty="0" err="1"/>
              <a:t>existe</a:t>
            </a:r>
            <a:r>
              <a:rPr lang="ca-ES" sz="2000" dirty="0"/>
              <a:t> </a:t>
            </a:r>
            <a:r>
              <a:rPr lang="ca-ES" sz="2000" dirty="0" err="1"/>
              <a:t>ningún</a:t>
            </a:r>
            <a:r>
              <a:rPr lang="ca-ES" sz="2000" dirty="0"/>
              <a:t> </a:t>
            </a:r>
            <a:r>
              <a:rPr lang="ca-ES" sz="2000" dirty="0" err="1"/>
              <a:t>método</a:t>
            </a:r>
            <a:r>
              <a:rPr lang="ca-ES" sz="2000" dirty="0"/>
              <a:t> para crear un </a:t>
            </a:r>
            <a:r>
              <a:rPr lang="ca-ES" sz="2000" dirty="0" err="1"/>
              <a:t>objeto</a:t>
            </a:r>
            <a:r>
              <a:rPr lang="ca-ES" sz="2000" dirty="0"/>
              <a:t> </a:t>
            </a:r>
            <a:r>
              <a:rPr lang="ca-ES" sz="2000" dirty="0" err="1"/>
              <a:t>Math</a:t>
            </a:r>
            <a:r>
              <a:rPr lang="ca-ES" sz="2000" dirty="0"/>
              <a:t>. </a:t>
            </a:r>
            <a:r>
              <a:rPr lang="ca-ES" sz="2000" dirty="0" err="1"/>
              <a:t>Podemos</a:t>
            </a:r>
            <a:r>
              <a:rPr lang="ca-ES" sz="2000" dirty="0"/>
              <a:t> </a:t>
            </a:r>
            <a:r>
              <a:rPr lang="ca-ES" sz="2000" dirty="0" err="1"/>
              <a:t>utilizarlo</a:t>
            </a:r>
            <a:r>
              <a:rPr lang="ca-ES" sz="2000" dirty="0"/>
              <a:t> </a:t>
            </a:r>
            <a:r>
              <a:rPr lang="ca-ES" sz="2000" dirty="0" err="1"/>
              <a:t>sin</a:t>
            </a:r>
            <a:r>
              <a:rPr lang="ca-ES" sz="2000" dirty="0"/>
              <a:t> </a:t>
            </a:r>
            <a:r>
              <a:rPr lang="ca-ES" sz="2000" dirty="0" err="1"/>
              <a:t>tener</a:t>
            </a:r>
            <a:r>
              <a:rPr lang="ca-ES" sz="2000" dirty="0"/>
              <a:t> que </a:t>
            </a:r>
            <a:r>
              <a:rPr lang="ca-ES" sz="2000" dirty="0" err="1"/>
              <a:t>crearlo</a:t>
            </a:r>
            <a:r>
              <a:rPr lang="ca-ES" sz="2000" dirty="0"/>
              <a:t>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3919943-DCC3-B1AC-2DE6-28DF72A29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396693"/>
              </p:ext>
            </p:extLst>
          </p:nvPr>
        </p:nvGraphicFramePr>
        <p:xfrm>
          <a:off x="1207168" y="3290029"/>
          <a:ext cx="6729663" cy="205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663">
                  <a:extLst>
                    <a:ext uri="{9D8B030D-6E8A-4147-A177-3AD203B41FA5}">
                      <a16:colId xmlns:a16="http://schemas.microsoft.com/office/drawing/2014/main" val="1718146889"/>
                    </a:ext>
                  </a:extLst>
                </a:gridCol>
              </a:tblGrid>
              <a:tr h="631898">
                <a:tc>
                  <a:txBody>
                    <a:bodyPr/>
                    <a:lstStyle/>
                    <a:p>
                      <a:pPr algn="ctr"/>
                      <a:r>
                        <a:rPr lang="ca-ES" dirty="0" err="1"/>
                        <a:t>Propiedades</a:t>
                      </a:r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80748"/>
                  </a:ext>
                </a:extLst>
              </a:tr>
              <a:tr h="1420094">
                <a:tc>
                  <a:txBody>
                    <a:bodyPr/>
                    <a:lstStyle/>
                    <a:p>
                      <a:r>
                        <a:rPr lang="es-ES" dirty="0"/>
                        <a:t>JavaScript tiene almacenadas las principales constantes matemáticas (número pi, número e, etc.), y para acceder a él lo hacemos a través de las propiedades correspondientes del objeto </a:t>
                      </a:r>
                      <a:r>
                        <a:rPr lang="es-ES" dirty="0" err="1"/>
                        <a:t>Math</a:t>
                      </a:r>
                      <a:r>
                        <a:rPr lang="es-ES" dirty="0"/>
                        <a:t>: </a:t>
                      </a:r>
                      <a:r>
                        <a:rPr lang="es-ES" dirty="0" err="1"/>
                        <a:t>Math.E</a:t>
                      </a:r>
                      <a:r>
                        <a:rPr lang="es-ES" dirty="0"/>
                        <a:t>, Math.LN2, Math.LN10,Math .SQRT2...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173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608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1.3.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Math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BB15FFC-DD92-4E40-04C7-C114809EB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37280"/>
              </p:ext>
            </p:extLst>
          </p:nvPr>
        </p:nvGraphicFramePr>
        <p:xfrm>
          <a:off x="493294" y="1813293"/>
          <a:ext cx="8373980" cy="445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3980">
                  <a:extLst>
                    <a:ext uri="{9D8B030D-6E8A-4147-A177-3AD203B41FA5}">
                      <a16:colId xmlns:a16="http://schemas.microsoft.com/office/drawing/2014/main" val="156481767"/>
                    </a:ext>
                  </a:extLst>
                </a:gridCol>
              </a:tblGrid>
              <a:tr h="396539">
                <a:tc>
                  <a:txBody>
                    <a:bodyPr/>
                    <a:lstStyle/>
                    <a:p>
                      <a:pPr algn="ctr"/>
                      <a:r>
                        <a:rPr lang="ca-ES" sz="1400" dirty="0" err="1"/>
                        <a:t>Métodos</a:t>
                      </a:r>
                      <a:endParaRPr lang="ca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45309"/>
                  </a:ext>
                </a:extLst>
              </a:tr>
              <a:tr h="3965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abs</a:t>
                      </a:r>
                      <a:r>
                        <a:rPr lang="es-ES" sz="1400" dirty="0"/>
                        <a:t>(x): valor absoluto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663225"/>
                  </a:ext>
                </a:extLst>
              </a:tr>
              <a:tr h="674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sin(x), cos(x), tan(x): funciones trigonométricas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asin</a:t>
                      </a:r>
                      <a:r>
                        <a:rPr lang="es-ES" sz="1400" dirty="0"/>
                        <a:t>(x), acos(x), atan(x): devuelve en radianes el </a:t>
                      </a:r>
                      <a:r>
                        <a:rPr lang="es-ES" sz="1400" dirty="0" err="1"/>
                        <a:t>arcsinus</a:t>
                      </a:r>
                      <a:r>
                        <a:rPr lang="es-ES" sz="1400" dirty="0"/>
                        <a:t>, </a:t>
                      </a:r>
                      <a:r>
                        <a:rPr lang="es-ES" sz="1400" dirty="0" err="1"/>
                        <a:t>arccosinus</a:t>
                      </a:r>
                      <a:r>
                        <a:rPr lang="es-ES" sz="1400" dirty="0"/>
                        <a:t>, </a:t>
                      </a:r>
                      <a:r>
                        <a:rPr lang="es-ES" sz="1400" dirty="0" err="1"/>
                        <a:t>arctangent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23150"/>
                  </a:ext>
                </a:extLst>
              </a:tr>
              <a:tr h="3965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/>
                        <a:t>round(x): redondea x al valor entero más cercano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963510"/>
                  </a:ext>
                </a:extLst>
              </a:tr>
              <a:tr h="493195">
                <a:tc>
                  <a:txBody>
                    <a:bodyPr/>
                    <a:lstStyle/>
                    <a:p>
                      <a:pPr marL="90170" marR="179070" lvl="0" indent="0" algn="l" defTabSz="914400" rtl="0" eaLnBrk="1" fontAlgn="auto" latinLnBrk="0" hangingPunct="1">
                        <a:lnSpc>
                          <a:spcPts val="134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ceil</a:t>
                      </a:r>
                      <a:r>
                        <a:rPr lang="es-ES" sz="1400" dirty="0"/>
                        <a:t>(x), </a:t>
                      </a:r>
                      <a:r>
                        <a:rPr lang="es-ES" sz="1400" dirty="0" err="1"/>
                        <a:t>floor</a:t>
                      </a:r>
                      <a:r>
                        <a:rPr lang="es-ES" sz="1400" dirty="0"/>
                        <a:t>(x): devuelve el mismo número pero redondeado al entero más cercano hacia arriba (</a:t>
                      </a:r>
                      <a:r>
                        <a:rPr lang="es-ES" sz="1400" dirty="0" err="1"/>
                        <a:t>ceil</a:t>
                      </a:r>
                      <a:r>
                        <a:rPr lang="es-ES" sz="1400" dirty="0"/>
                        <a:t>) o hacia abajo (</a:t>
                      </a:r>
                      <a:r>
                        <a:rPr lang="es-ES" sz="1400" dirty="0" err="1"/>
                        <a:t>floor</a:t>
                      </a:r>
                      <a:r>
                        <a:rPr lang="es-ES" sz="1400" dirty="0"/>
                        <a:t>)</a:t>
                      </a:r>
                    </a:p>
                  </a:txBody>
                  <a:tcPr marL="0" marR="0" marT="48895" marB="0"/>
                </a:tc>
                <a:extLst>
                  <a:ext uri="{0D108BD9-81ED-4DB2-BD59-A6C34878D82A}">
                    <a16:rowId xmlns:a16="http://schemas.microsoft.com/office/drawing/2014/main" val="1650566011"/>
                  </a:ext>
                </a:extLst>
              </a:tr>
              <a:tr h="316819">
                <a:tc>
                  <a:txBody>
                    <a:bodyPr/>
                    <a:lstStyle/>
                    <a:p>
                      <a:pPr marL="90170" marR="306705" lvl="0" indent="0" algn="l" defTabSz="914400" rtl="0" eaLnBrk="1" fontAlgn="auto" latinLnBrk="0" hangingPunct="1">
                        <a:lnSpc>
                          <a:spcPct val="934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truncx</a:t>
                      </a:r>
                      <a:r>
                        <a:rPr lang="es-ES" sz="1400" dirty="0"/>
                        <a:t>(x): elimina la parte fraccionaria de un número (y queda sólo la parte entera).</a:t>
                      </a: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638682917"/>
                  </a:ext>
                </a:extLst>
              </a:tr>
              <a:tr h="316819">
                <a:tc>
                  <a:txBody>
                    <a:bodyPr/>
                    <a:lstStyle/>
                    <a:p>
                      <a:pPr marL="90170" marR="541020" lvl="0" indent="0" algn="l" defTabSz="914400" rtl="0" eaLnBrk="1" fontAlgn="auto" latinLnBrk="0" hangingPunct="1">
                        <a:lnSpc>
                          <a:spcPct val="934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exp</a:t>
                      </a:r>
                      <a:r>
                        <a:rPr lang="es-ES" sz="1400" dirty="0"/>
                        <a:t>(x): devuelve el valor $</a:t>
                      </a:r>
                      <a:r>
                        <a:rPr lang="es-ES" sz="1400" dirty="0" err="1"/>
                        <a:t>eˆx</a:t>
                      </a:r>
                      <a:r>
                        <a:rPr lang="es-ES" sz="1400" dirty="0"/>
                        <a:t>$.</a:t>
                      </a: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3206709500"/>
                  </a:ext>
                </a:extLst>
              </a:tr>
              <a:tr h="303893">
                <a:tc>
                  <a:txBody>
                    <a:bodyPr/>
                    <a:lstStyle/>
                    <a:p>
                      <a:pPr marL="90170">
                        <a:lnSpc>
                          <a:spcPts val="1395"/>
                        </a:lnSpc>
                        <a:spcBef>
                          <a:spcPts val="260"/>
                        </a:spcBef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max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lang="es-ES" sz="1400" dirty="0" err="1">
                          <a:latin typeface="Arial MT"/>
                          <a:cs typeface="Arial MT"/>
                        </a:rPr>
                        <a:t>a,b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,...), min(</a:t>
                      </a:r>
                      <a:r>
                        <a:rPr lang="es-ES" sz="1400" dirty="0" err="1">
                          <a:latin typeface="Arial MT"/>
                          <a:cs typeface="Arial MT"/>
                        </a:rPr>
                        <a:t>a,b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,...): devuelve el mayor valor (o más pequeño)de la lista de números</a:t>
                      </a: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3114468848"/>
                  </a:ext>
                </a:extLst>
              </a:tr>
              <a:tr h="294099">
                <a:tc>
                  <a:txBody>
                    <a:bodyPr/>
                    <a:lstStyle/>
                    <a:p>
                      <a:pPr marL="90170" marR="311150" lvl="0" indent="0" algn="l" defTabSz="914400" rtl="0" eaLnBrk="1" fontAlgn="auto" latinLnBrk="0" hangingPunct="1">
                        <a:lnSpc>
                          <a:spcPts val="1350"/>
                        </a:lnSpc>
                        <a:spcBef>
                          <a:spcPts val="3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pow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</a:t>
                      </a:r>
                      <a:r>
                        <a:rPr lang="es-ES" sz="1400" dirty="0" err="1">
                          <a:latin typeface="Arial MT"/>
                          <a:cs typeface="Arial MT"/>
                        </a:rPr>
                        <a:t>x,y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): devuelve $</a:t>
                      </a:r>
                      <a:r>
                        <a:rPr lang="es-ES" sz="1400" dirty="0" err="1">
                          <a:latin typeface="Arial MT"/>
                          <a:cs typeface="Arial MT"/>
                        </a:rPr>
                        <a:t>xˆy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$. </a:t>
                      </a: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677282983"/>
                  </a:ext>
                </a:extLst>
              </a:tr>
              <a:tr h="294099">
                <a:tc>
                  <a:txBody>
                    <a:bodyPr/>
                    <a:lstStyle/>
                    <a:p>
                      <a:pPr marL="90170" marR="311150" lvl="0" indent="0" algn="l" defTabSz="914400" rtl="0" eaLnBrk="1" fontAlgn="auto" latinLnBrk="0" hangingPunct="1">
                        <a:lnSpc>
                          <a:spcPts val="1350"/>
                        </a:lnSpc>
                        <a:spcBef>
                          <a:spcPts val="3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latin typeface="Arial MT"/>
                          <a:cs typeface="Arial MT"/>
                        </a:rPr>
                        <a:t>log(x): devuelve el logaritmo natural (base e) de x </a:t>
                      </a: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214628633"/>
                  </a:ext>
                </a:extLst>
              </a:tr>
              <a:tr h="294099">
                <a:tc>
                  <a:txBody>
                    <a:bodyPr/>
                    <a:lstStyle/>
                    <a:p>
                      <a:pPr marL="90170" marR="311150" lvl="0" indent="0" algn="l" defTabSz="914400" rtl="0" eaLnBrk="1" fontAlgn="auto" latinLnBrk="0" hangingPunct="1">
                        <a:lnSpc>
                          <a:spcPts val="1350"/>
                        </a:lnSpc>
                        <a:spcBef>
                          <a:spcPts val="3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random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(): devuelve un número aleatorio entre 0 (incluido) y 1 (excluido) </a:t>
                      </a:r>
                    </a:p>
                  </a:txBody>
                  <a:tcPr marL="0" marR="0" marT="48260" marB="0"/>
                </a:tc>
                <a:extLst>
                  <a:ext uri="{0D108BD9-81ED-4DB2-BD59-A6C34878D82A}">
                    <a16:rowId xmlns:a16="http://schemas.microsoft.com/office/drawing/2014/main" val="2767482537"/>
                  </a:ext>
                </a:extLst>
              </a:tr>
              <a:tr h="278404">
                <a:tc>
                  <a:txBody>
                    <a:bodyPr/>
                    <a:lstStyle/>
                    <a:p>
                      <a:pPr marL="90170" marR="130810" lvl="0" indent="0" algn="l" defTabSz="914400" rtl="0" eaLnBrk="1" fontAlgn="auto" latinLnBrk="0" hangingPunct="1">
                        <a:lnSpc>
                          <a:spcPts val="134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latin typeface="Arial MT"/>
                          <a:cs typeface="Arial MT"/>
                        </a:rPr>
                        <a:t>sqrt</a:t>
                      </a:r>
                      <a:r>
                        <a:rPr lang="es-ES" sz="1400" dirty="0">
                          <a:latin typeface="Arial MT"/>
                          <a:cs typeface="Arial MT"/>
                        </a:rPr>
                        <a:t>(x): devuelve la raíz cuadrada de x</a:t>
                      </a:r>
                    </a:p>
                  </a:txBody>
                  <a:tcPr marL="0" marR="0" marT="48895" marB="0"/>
                </a:tc>
                <a:extLst>
                  <a:ext uri="{0D108BD9-81ED-4DB2-BD59-A6C34878D82A}">
                    <a16:rowId xmlns:a16="http://schemas.microsoft.com/office/drawing/2014/main" val="704805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549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1.4.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Date</a:t>
            </a: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DCE2406-AB34-CC42-68D9-EABE07B9C9D9}"/>
              </a:ext>
            </a:extLst>
          </p:cNvPr>
          <p:cNvSpPr txBox="1"/>
          <p:nvPr/>
        </p:nvSpPr>
        <p:spPr>
          <a:xfrm>
            <a:off x="981295" y="2083151"/>
            <a:ext cx="7452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dirty="0"/>
              <a:t>El </a:t>
            </a:r>
            <a:r>
              <a:rPr lang="ca-ES" dirty="0" err="1"/>
              <a:t>objeto</a:t>
            </a:r>
            <a:r>
              <a:rPr lang="ca-ES" dirty="0"/>
              <a:t> </a:t>
            </a:r>
            <a:r>
              <a:rPr lang="ca-ES" dirty="0" err="1"/>
              <a:t>Date</a:t>
            </a:r>
            <a:r>
              <a:rPr lang="ca-ES" dirty="0"/>
              <a:t> se </a:t>
            </a:r>
            <a:r>
              <a:rPr lang="ca-ES" dirty="0" err="1"/>
              <a:t>utiliza</a:t>
            </a:r>
            <a:r>
              <a:rPr lang="ca-ES" dirty="0"/>
              <a:t> para </a:t>
            </a:r>
            <a:r>
              <a:rPr lang="ca-ES" dirty="0" err="1"/>
              <a:t>trabajar</a:t>
            </a:r>
            <a:r>
              <a:rPr lang="ca-ES" dirty="0"/>
              <a:t> con </a:t>
            </a:r>
            <a:r>
              <a:rPr lang="ca-ES" dirty="0" err="1"/>
              <a:t>fechas</a:t>
            </a:r>
            <a:r>
              <a:rPr lang="ca-ES" dirty="0"/>
              <a:t> y </a:t>
            </a:r>
            <a:r>
              <a:rPr lang="ca-ES" dirty="0" err="1"/>
              <a:t>tiempo</a:t>
            </a:r>
            <a:endParaRPr lang="ca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1562FAF-4FCC-3D3A-908D-6A899706E2D6}"/>
              </a:ext>
            </a:extLst>
          </p:cNvPr>
          <p:cNvSpPr/>
          <p:nvPr/>
        </p:nvSpPr>
        <p:spPr>
          <a:xfrm>
            <a:off x="981295" y="2636874"/>
            <a:ext cx="6974959" cy="33822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data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//fecha del sistema 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(data);</a:t>
            </a:r>
          </a:p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data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34885453664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//genera una fecha que representa los milisegundos que han pasado desde el 1 de enero de 1970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(data);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data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'2016/05/23'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(data);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data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2016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220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//año, mes, </a:t>
            </a:r>
            <a:r>
              <a:rPr lang="es-ES" b="0" dirty="0" err="1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es-ES" b="0" dirty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, hora, minutos, segundos, milisegundos</a:t>
            </a:r>
            <a:endParaRPr lang="es-ES" b="0" dirty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(data);</a:t>
            </a:r>
          </a:p>
        </p:txBody>
      </p:sp>
    </p:spTree>
    <p:extLst>
      <p:ext uri="{BB962C8B-B14F-4D97-AF65-F5344CB8AC3E}">
        <p14:creationId xmlns:p14="http://schemas.microsoft.com/office/powerpoint/2010/main" val="208604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1.4.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Date</a:t>
            </a: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4A80035-96D3-68A1-6891-60E5BD3AF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337427"/>
              </p:ext>
            </p:extLst>
          </p:nvPr>
        </p:nvGraphicFramePr>
        <p:xfrm>
          <a:off x="800820" y="2497582"/>
          <a:ext cx="7795024" cy="1862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5024">
                  <a:extLst>
                    <a:ext uri="{9D8B030D-6E8A-4147-A177-3AD203B41FA5}">
                      <a16:colId xmlns:a16="http://schemas.microsoft.com/office/drawing/2014/main" val="4220626160"/>
                    </a:ext>
                  </a:extLst>
                </a:gridCol>
              </a:tblGrid>
              <a:tr h="418421">
                <a:tc>
                  <a:txBody>
                    <a:bodyPr/>
                    <a:lstStyle/>
                    <a:p>
                      <a:pPr algn="ctr"/>
                      <a:r>
                        <a:rPr lang="ca-ES" dirty="0"/>
                        <a:t>PROPIEDADES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798181"/>
                  </a:ext>
                </a:extLst>
              </a:tr>
              <a:tr h="7222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constructor: devuelve la función que ha creado el prototipo del objeto Date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53340"/>
                  </a:ext>
                </a:extLst>
              </a:tr>
              <a:tr h="7222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 err="1"/>
                        <a:t>prototype</a:t>
                      </a:r>
                      <a:r>
                        <a:rPr lang="es-ES" sz="1800" dirty="0"/>
                        <a:t>: permite añadir propiedades y métodos al objeto.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507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257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1.4.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Date</a:t>
            </a: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4A80035-96D3-68A1-6891-60E5BD3AF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150202"/>
              </p:ext>
            </p:extLst>
          </p:nvPr>
        </p:nvGraphicFramePr>
        <p:xfrm>
          <a:off x="800820" y="1834095"/>
          <a:ext cx="779502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5024">
                  <a:extLst>
                    <a:ext uri="{9D8B030D-6E8A-4147-A177-3AD203B41FA5}">
                      <a16:colId xmlns:a16="http://schemas.microsoft.com/office/drawing/2014/main" val="4220626160"/>
                    </a:ext>
                  </a:extLst>
                </a:gridCol>
              </a:tblGrid>
              <a:tr h="262527">
                <a:tc>
                  <a:txBody>
                    <a:bodyPr/>
                    <a:lstStyle/>
                    <a:p>
                      <a:pPr algn="ctr"/>
                      <a:r>
                        <a:rPr lang="ca-ES" sz="1200" dirty="0"/>
                        <a:t>MÉTODOS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798181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getDay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devuelve el día de la semana (0-6, empezando por domingo).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53340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getFullYear</a:t>
                      </a:r>
                      <a:r>
                        <a:rPr lang="es-ES" sz="1200" dirty="0"/>
                        <a:t>(): devuelve el año (4 dígitos)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507340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getMonth</a:t>
                      </a:r>
                      <a:r>
                        <a:rPr lang="es-ES" sz="1200" dirty="0"/>
                        <a:t>(): devuelve el mes (0-11).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516160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getDate</a:t>
                      </a:r>
                      <a:r>
                        <a:rPr lang="es-ES" sz="1200" dirty="0"/>
                        <a:t>(): devuelve el día del mes (1-31)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65393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getHours</a:t>
                      </a:r>
                      <a:r>
                        <a:rPr lang="es-ES" sz="1200" dirty="0"/>
                        <a:t>(): devuelve la hora (0-23)</a:t>
                      </a:r>
                      <a:endParaRPr lang="ca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835983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getMinutes</a:t>
                      </a:r>
                      <a:r>
                        <a:rPr lang="es-ES" sz="1200" dirty="0"/>
                        <a:t>(): devuelve los minutos (0-59).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735678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getSeconds</a:t>
                      </a:r>
                      <a:r>
                        <a:rPr lang="es-ES" sz="1200" dirty="0"/>
                        <a:t>(): devuelve los segundos (0-59).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60515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getMilliseconds</a:t>
                      </a:r>
                      <a:r>
                        <a:rPr lang="es-ES" sz="1200" dirty="0"/>
                        <a:t>(): devuelve los milisegundos (0-999).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646825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getUTCDate</a:t>
                      </a:r>
                      <a:r>
                        <a:rPr lang="es-ES" sz="1200" dirty="0"/>
                        <a:t>(): devuelve el día del mes (1-31), de acuerdo con el horario UTC universal.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26923"/>
                  </a:ext>
                </a:extLst>
              </a:tr>
              <a:tr h="381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getUTCDay</a:t>
                      </a:r>
                      <a:r>
                        <a:rPr lang="es-ES" sz="1200" dirty="0"/>
                        <a:t>(): devuelve el día de la semana (0-6, empezando por domingo), de acuerdo con el horario UTC universal.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057809"/>
                  </a:ext>
                </a:extLst>
              </a:tr>
              <a:tr h="22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getUTCFullYear</a:t>
                      </a:r>
                      <a:r>
                        <a:rPr lang="es-ES" sz="1200" dirty="0"/>
                        <a:t>(): devuelve el año (4 dígitos), de acuerdo con el horario UTC universal.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285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getUTCMonth</a:t>
                      </a:r>
                      <a:r>
                        <a:rPr lang="es-ES" sz="1200" dirty="0"/>
                        <a:t>(): devuelve el mes (0-11), de acuerdo con el horario UTC universal.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58029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getUTCHours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devuelve la hora (0-23), de acuerdo con el horario UTC universal. 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28866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getUTCMinutes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devuelve los minutos (0-59), de acuerdo con el horario UTC universal.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27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434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1.4.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Date</a:t>
            </a: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4A80035-96D3-68A1-6891-60E5BD3AF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2601"/>
              </p:ext>
            </p:extLst>
          </p:nvPr>
        </p:nvGraphicFramePr>
        <p:xfrm>
          <a:off x="800819" y="1834095"/>
          <a:ext cx="779502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5025">
                  <a:extLst>
                    <a:ext uri="{9D8B030D-6E8A-4147-A177-3AD203B41FA5}">
                      <a16:colId xmlns:a16="http://schemas.microsoft.com/office/drawing/2014/main" val="4220626160"/>
                    </a:ext>
                  </a:extLst>
                </a:gridCol>
              </a:tblGrid>
              <a:tr h="144250">
                <a:tc>
                  <a:txBody>
                    <a:bodyPr/>
                    <a:lstStyle/>
                    <a:p>
                      <a:pPr algn="ctr"/>
                      <a:r>
                        <a:rPr lang="ca-ES" sz="1200" dirty="0"/>
                        <a:t>MÉTODOS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798181"/>
                  </a:ext>
                </a:extLst>
              </a:tr>
              <a:tr h="144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getUTCSeconds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devuelve los segundos (0-59), de acuerdo con el horario UTC universal.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53340"/>
                  </a:ext>
                </a:extLst>
              </a:tr>
              <a:tr h="144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getUTCMilliseconds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devuelve los milisegundos (0-999), de acuerdo con el horario UTC universal.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507340"/>
                  </a:ext>
                </a:extLst>
              </a:tr>
              <a:tr h="2404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getTime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(): devuelve el número de milisegundos que han transcurrido desde la fecha hasta el 1 de enero de 1970.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516160"/>
                  </a:ext>
                </a:extLst>
              </a:tr>
              <a:tr h="2404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now</a:t>
                      </a:r>
                      <a:r>
                        <a:rPr lang="es-ES" sz="1200" dirty="0"/>
                        <a:t>(): devuelve el número de milisegundos que han transcurrido desde la fecha del sistema hasta el 1 de enero de 1970.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65393"/>
                  </a:ext>
                </a:extLst>
              </a:tr>
              <a:tr h="2404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parse</a:t>
                      </a:r>
                      <a:r>
                        <a:rPr lang="es-ES" sz="1200" dirty="0"/>
                        <a:t>(): transforma una cadena de texto (representando una fecha), y devuelve el número de milisegundos transcurridos desde la fecha hasta el 1 de enero de 1970.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835983"/>
                  </a:ext>
                </a:extLst>
              </a:tr>
              <a:tr h="144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setFullYear</a:t>
                      </a:r>
                      <a:r>
                        <a:rPr lang="es-ES" sz="1200" dirty="0"/>
                        <a:t>(): especifica el día del año.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735678"/>
                  </a:ext>
                </a:extLst>
              </a:tr>
              <a:tr h="144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setMonth</a:t>
                      </a:r>
                      <a:r>
                        <a:rPr lang="es-ES" sz="1200" dirty="0"/>
                        <a:t>(): especifica el mes.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60515"/>
                  </a:ext>
                </a:extLst>
              </a:tr>
              <a:tr h="144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setDate</a:t>
                      </a:r>
                      <a:r>
                        <a:rPr lang="es-ES" sz="1200" dirty="0"/>
                        <a:t>(): especifica el día del mes.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646825"/>
                  </a:ext>
                </a:extLst>
              </a:tr>
              <a:tr h="144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setHours</a:t>
                      </a:r>
                      <a:r>
                        <a:rPr lang="es-ES" sz="1200" dirty="0"/>
                        <a:t>(): especifica la hora.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26923"/>
                  </a:ext>
                </a:extLst>
              </a:tr>
              <a:tr h="144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setMinutes</a:t>
                      </a:r>
                      <a:r>
                        <a:rPr lang="es-ES" sz="1200" dirty="0"/>
                        <a:t>(): especifica los minutos.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057809"/>
                  </a:ext>
                </a:extLst>
              </a:tr>
              <a:tr h="1442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setSeconds</a:t>
                      </a:r>
                      <a:r>
                        <a:rPr lang="es-ES" sz="1200" dirty="0"/>
                        <a:t>(): especifica los segundos.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285000"/>
                  </a:ext>
                </a:extLst>
              </a:tr>
              <a:tr h="1956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setMilliseconds</a:t>
                      </a:r>
                      <a:r>
                        <a:rPr lang="es-ES" sz="1200" dirty="0"/>
                        <a:t>(): especifica los milisegundos.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58029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setTime</a:t>
                      </a:r>
                      <a:r>
                        <a:rPr lang="es-ES" sz="1200" dirty="0"/>
                        <a:t>(): especifica una fecha a partir del número de milisegundos antes o después del 1 de enero de 1970.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922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674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1.4.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Date</a:t>
            </a: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4A80035-96D3-68A1-6891-60E5BD3AF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083919"/>
              </p:ext>
            </p:extLst>
          </p:nvPr>
        </p:nvGraphicFramePr>
        <p:xfrm>
          <a:off x="800819" y="1834095"/>
          <a:ext cx="779502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5025">
                  <a:extLst>
                    <a:ext uri="{9D8B030D-6E8A-4147-A177-3AD203B41FA5}">
                      <a16:colId xmlns:a16="http://schemas.microsoft.com/office/drawing/2014/main" val="4220626160"/>
                    </a:ext>
                  </a:extLst>
                </a:gridCol>
              </a:tblGrid>
              <a:tr h="139049">
                <a:tc>
                  <a:txBody>
                    <a:bodyPr/>
                    <a:lstStyle/>
                    <a:p>
                      <a:pPr algn="ctr"/>
                      <a:r>
                        <a:rPr lang="ca-ES" sz="1200" dirty="0"/>
                        <a:t>MÉTODOS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798181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setUTCFullYear</a:t>
                      </a:r>
                      <a:r>
                        <a:rPr lang="es-ES" sz="1200" dirty="0"/>
                        <a:t>(): especifica el año, de acuerdo con el horario UTC universal. </a:t>
                      </a:r>
                      <a:endParaRPr lang="es-E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53340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setUTCMonth</a:t>
                      </a:r>
                      <a:r>
                        <a:rPr lang="es-ES" sz="1200" dirty="0"/>
                        <a:t>(): especifica el mes, de acuerdo con el horario UTC universal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507340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setUTCDate</a:t>
                      </a:r>
                      <a:r>
                        <a:rPr lang="es-ES" sz="1200" dirty="0"/>
                        <a:t>(): especifica el día del mes, de acuerdo con el horario UTC universal.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516160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setUTCHours</a:t>
                      </a:r>
                      <a:r>
                        <a:rPr lang="es-ES" sz="1200" dirty="0"/>
                        <a:t>(): especifica la hora, de acuerdo con el horario UTC universal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65393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setUTCMinutes</a:t>
                      </a:r>
                      <a:r>
                        <a:rPr lang="es-ES" sz="1200" dirty="0"/>
                        <a:t>(): especifica los minutos, de acuerdo con el horario UTC universal.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835983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setUTCSeconds</a:t>
                      </a:r>
                      <a:r>
                        <a:rPr lang="es-ES" sz="1200" dirty="0"/>
                        <a:t>(): especifica los segundos, de acuerdo con el horario UTC universal.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735678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setUTCMilliseconds</a:t>
                      </a:r>
                      <a:r>
                        <a:rPr lang="es-ES" sz="1200" dirty="0"/>
                        <a:t>(): especifica los milisegundos, de acuerdo con el horario UTC universal.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60515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toDateString</a:t>
                      </a:r>
                      <a:r>
                        <a:rPr lang="es-ES" sz="1200" dirty="0"/>
                        <a:t>(): convierte la parte de la fecha en una cadena legible.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646825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toLocaleDateString</a:t>
                      </a:r>
                      <a:r>
                        <a:rPr lang="es-ES" sz="1200" dirty="0"/>
                        <a:t>(): convierte la parte de la fecha en una cadena legible, utilizando las convenciones locales.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26923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toISOString</a:t>
                      </a:r>
                      <a:r>
                        <a:rPr lang="es-ES" sz="1200" dirty="0"/>
                        <a:t>(): convierte la fecha a cadena, utilizando la convención ISO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8057809"/>
                  </a:ext>
                </a:extLst>
              </a:tr>
              <a:tr h="1630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toJSON</a:t>
                      </a:r>
                      <a:r>
                        <a:rPr lang="es-ES" sz="1200" dirty="0"/>
                        <a:t>(): convierte la fecha a cadena con formato JSON.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285000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toTimeString</a:t>
                      </a:r>
                      <a:r>
                        <a:rPr lang="es-ES" sz="1200" dirty="0"/>
                        <a:t>(): convierte la parte del </a:t>
                      </a:r>
                      <a:r>
                        <a:rPr lang="es-ES" sz="1200" dirty="0" err="1"/>
                        <a:t>timestamp</a:t>
                      </a:r>
                      <a:r>
                        <a:rPr lang="es-ES" sz="1200" dirty="0"/>
                        <a:t> del objeto Date a cadena.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972217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toLocaleTimeString</a:t>
                      </a:r>
                      <a:r>
                        <a:rPr lang="es-ES" sz="1200" dirty="0"/>
                        <a:t>(): convierte la parte del </a:t>
                      </a:r>
                      <a:r>
                        <a:rPr lang="es-ES" sz="1200" dirty="0" err="1"/>
                        <a:t>timestamp</a:t>
                      </a:r>
                      <a:r>
                        <a:rPr lang="es-ES" sz="1200" dirty="0"/>
                        <a:t> del objeto Date, utilizando las convenciones locales.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693480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toString</a:t>
                      </a:r>
                      <a:r>
                        <a:rPr lang="es-ES" sz="1200" dirty="0"/>
                        <a:t>(): convierte el objeto Date a cadena.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72634"/>
                  </a:ext>
                </a:extLst>
              </a:tr>
              <a:tr h="1390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toLocaleString</a:t>
                      </a:r>
                      <a:r>
                        <a:rPr lang="es-ES" sz="1200" dirty="0"/>
                        <a:t>(): convierte el objeto Date a cadena, utilizando las convenciones locales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580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083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1.4.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Date</a:t>
            </a: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5B51C2D-67E3-58FF-FB63-B559ADBBC396}"/>
              </a:ext>
            </a:extLst>
          </p:cNvPr>
          <p:cNvSpPr/>
          <p:nvPr/>
        </p:nvSpPr>
        <p:spPr>
          <a:xfrm>
            <a:off x="940981" y="1996578"/>
            <a:ext cx="7262037" cy="38725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d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//Dia del Trabajo 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setDate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setMonth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//Representa el mes de mayo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d.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setFullYear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2016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(d);</a:t>
            </a: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(d.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toDateString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//Sun May 01 2016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(d.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toLocaleDateString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//1/5/2016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//Como toLocaleDateString() devuelve una cadena, ya puedo utilizar las funciones de cadena: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array_data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d.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toLocaleDateString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(array_data[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//dia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(array_data[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//mes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(array_data[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//año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860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1.5.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RegExp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5C3C6B-37E7-9832-3B20-323A59C83F31}"/>
              </a:ext>
            </a:extLst>
          </p:cNvPr>
          <p:cNvSpPr txBox="1"/>
          <p:nvPr/>
        </p:nvSpPr>
        <p:spPr>
          <a:xfrm>
            <a:off x="800820" y="1859340"/>
            <a:ext cx="7657380" cy="437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ca-ES" sz="2000" dirty="0"/>
              <a:t>Las </a:t>
            </a:r>
            <a:r>
              <a:rPr lang="ca-ES" sz="2000" dirty="0" err="1"/>
              <a:t>expresiones</a:t>
            </a:r>
            <a:r>
              <a:rPr lang="ca-ES" sz="2000" dirty="0"/>
              <a:t> regulares son </a:t>
            </a:r>
            <a:r>
              <a:rPr lang="ca-ES" sz="2000" dirty="0" err="1"/>
              <a:t>objetos</a:t>
            </a:r>
            <a:r>
              <a:rPr lang="ca-ES" sz="2000" dirty="0"/>
              <a:t> de </a:t>
            </a:r>
            <a:r>
              <a:rPr lang="ca-ES" sz="2000" dirty="0" err="1"/>
              <a:t>JavaScript</a:t>
            </a:r>
            <a:r>
              <a:rPr lang="ca-ES" sz="2000" dirty="0"/>
              <a:t> que se </a:t>
            </a:r>
            <a:r>
              <a:rPr lang="ca-ES" sz="2000" dirty="0" err="1"/>
              <a:t>utilizan</a:t>
            </a:r>
            <a:r>
              <a:rPr lang="ca-ES" sz="2000" dirty="0"/>
              <a:t> para </a:t>
            </a:r>
            <a:r>
              <a:rPr lang="ca-ES" sz="2000" dirty="0" err="1"/>
              <a:t>describir</a:t>
            </a:r>
            <a:r>
              <a:rPr lang="ca-ES" sz="2000" dirty="0"/>
              <a:t> un </a:t>
            </a:r>
            <a:r>
              <a:rPr lang="ca-ES" sz="2000" dirty="0" err="1"/>
              <a:t>patrón</a:t>
            </a:r>
            <a:r>
              <a:rPr lang="ca-ES" sz="2000" dirty="0"/>
              <a:t> de </a:t>
            </a:r>
            <a:r>
              <a:rPr lang="ca-ES" sz="2000" dirty="0" err="1"/>
              <a:t>caracteres</a:t>
            </a:r>
            <a:r>
              <a:rPr lang="ca-ES" sz="2000" dirty="0"/>
              <a:t>.</a:t>
            </a:r>
          </a:p>
          <a:p>
            <a:pPr algn="just">
              <a:spcAft>
                <a:spcPts val="1200"/>
              </a:spcAft>
            </a:pPr>
            <a:r>
              <a:rPr lang="ca-ES" sz="2000" dirty="0" err="1"/>
              <a:t>Aplicadas</a:t>
            </a:r>
            <a:r>
              <a:rPr lang="ca-ES" sz="2000" dirty="0"/>
              <a:t> a las </a:t>
            </a:r>
            <a:r>
              <a:rPr lang="ca-ES" sz="2000" dirty="0" err="1"/>
              <a:t>cadenas</a:t>
            </a:r>
            <a:r>
              <a:rPr lang="ca-ES" sz="2000" dirty="0"/>
              <a:t> de </a:t>
            </a:r>
            <a:r>
              <a:rPr lang="ca-ES" sz="2000" dirty="0" err="1"/>
              <a:t>texto</a:t>
            </a:r>
            <a:r>
              <a:rPr lang="ca-ES" sz="2000" dirty="0"/>
              <a:t>, con las </a:t>
            </a:r>
            <a:r>
              <a:rPr lang="ca-ES" sz="2000" dirty="0" err="1"/>
              <a:t>expresiones</a:t>
            </a:r>
            <a:r>
              <a:rPr lang="ca-ES" sz="2000" dirty="0"/>
              <a:t> regulares </a:t>
            </a:r>
            <a:r>
              <a:rPr lang="ca-ES" sz="2000" dirty="0" err="1"/>
              <a:t>podemos</a:t>
            </a:r>
            <a:r>
              <a:rPr lang="ca-ES" sz="2000" dirty="0"/>
              <a:t> saber si una cadena de </a:t>
            </a:r>
            <a:r>
              <a:rPr lang="ca-ES" sz="2000" dirty="0" err="1"/>
              <a:t>texto</a:t>
            </a:r>
            <a:r>
              <a:rPr lang="ca-ES" sz="2000" dirty="0"/>
              <a:t> </a:t>
            </a:r>
            <a:r>
              <a:rPr lang="ca-ES" sz="2000" dirty="0" err="1"/>
              <a:t>cumple</a:t>
            </a:r>
            <a:r>
              <a:rPr lang="ca-ES" sz="2000" dirty="0"/>
              <a:t> un </a:t>
            </a:r>
            <a:r>
              <a:rPr lang="ca-ES" sz="2000" dirty="0" err="1"/>
              <a:t>patrón</a:t>
            </a:r>
            <a:r>
              <a:rPr lang="ca-ES" sz="2000" dirty="0"/>
              <a:t>, y </a:t>
            </a:r>
            <a:r>
              <a:rPr lang="ca-ES" sz="2000" dirty="0" err="1"/>
              <a:t>realizar</a:t>
            </a:r>
            <a:r>
              <a:rPr lang="ca-ES" sz="2000" dirty="0"/>
              <a:t> funciones de </a:t>
            </a:r>
            <a:r>
              <a:rPr lang="ca-ES" sz="2000" dirty="0" err="1"/>
              <a:t>búsqueda</a:t>
            </a:r>
            <a:r>
              <a:rPr lang="ca-ES" sz="2000" dirty="0"/>
              <a:t> y </a:t>
            </a:r>
            <a:r>
              <a:rPr lang="ca-ES" sz="2000" dirty="0" err="1"/>
              <a:t>reemplazo</a:t>
            </a:r>
            <a:r>
              <a:rPr lang="ca-ES" sz="2000" dirty="0"/>
              <a:t>.</a:t>
            </a:r>
          </a:p>
          <a:p>
            <a:pPr algn="just">
              <a:spcAft>
                <a:spcPts val="1200"/>
              </a:spcAft>
            </a:pPr>
            <a:r>
              <a:rPr lang="ca-ES" sz="2000" dirty="0"/>
              <a:t>En una </a:t>
            </a:r>
            <a:r>
              <a:rPr lang="ca-ES" sz="2000" dirty="0" err="1"/>
              <a:t>expresión</a:t>
            </a:r>
            <a:r>
              <a:rPr lang="ca-ES" sz="2000" dirty="0"/>
              <a:t> regular </a:t>
            </a:r>
            <a:r>
              <a:rPr lang="ca-ES" sz="2000" dirty="0" err="1"/>
              <a:t>distinguimos</a:t>
            </a:r>
            <a:r>
              <a:rPr lang="ca-ES" sz="2000" dirty="0"/>
              <a:t> entre el </a:t>
            </a:r>
            <a:r>
              <a:rPr lang="ca-ES" sz="2000" dirty="0" err="1"/>
              <a:t>patrón</a:t>
            </a:r>
            <a:r>
              <a:rPr lang="ca-ES" sz="2000" dirty="0"/>
              <a:t> y los modificadores:</a:t>
            </a:r>
          </a:p>
          <a:p>
            <a:pPr algn="just">
              <a:spcAft>
                <a:spcPts val="1200"/>
              </a:spcAft>
            </a:pPr>
            <a:r>
              <a:rPr lang="ca-ES" sz="2000" dirty="0"/>
              <a:t>– /</a:t>
            </a:r>
            <a:r>
              <a:rPr lang="ca-ES" sz="2000" dirty="0" err="1"/>
              <a:t>pattern</a:t>
            </a:r>
            <a:r>
              <a:rPr lang="ca-ES" sz="2000" dirty="0"/>
              <a:t>/modificadores;</a:t>
            </a:r>
          </a:p>
          <a:p>
            <a:pPr algn="just">
              <a:spcAft>
                <a:spcPts val="1200"/>
              </a:spcAft>
            </a:pPr>
            <a:r>
              <a:rPr lang="es-ES" sz="2000" spc="-10" dirty="0">
                <a:solidFill>
                  <a:srgbClr val="542F8C"/>
                </a:solidFill>
                <a:latin typeface="Arial MT"/>
                <a:cs typeface="Arial MT"/>
              </a:rPr>
              <a:t>i</a:t>
            </a:r>
            <a:r>
              <a:rPr lang="es-ES" sz="2000" spc="-10" dirty="0">
                <a:solidFill>
                  <a:srgbClr val="542F8C"/>
                </a:solidFill>
                <a:latin typeface="Arial MT"/>
                <a:cs typeface="Arial MT"/>
                <a:sym typeface="Wingdings" panose="05000000000000000000" pitchFamily="2" charset="2"/>
              </a:rPr>
              <a:t> case </a:t>
            </a:r>
            <a:r>
              <a:rPr lang="es-ES" sz="2000" spc="-10" dirty="0" err="1">
                <a:solidFill>
                  <a:srgbClr val="542F8C"/>
                </a:solidFill>
                <a:latin typeface="Arial MT"/>
                <a:cs typeface="Arial MT"/>
                <a:sym typeface="Wingdings" panose="05000000000000000000" pitchFamily="2" charset="2"/>
              </a:rPr>
              <a:t>insensitive</a:t>
            </a:r>
            <a:r>
              <a:rPr lang="es-ES" sz="2000" spc="-10" dirty="0">
                <a:solidFill>
                  <a:srgbClr val="542F8C"/>
                </a:solidFill>
                <a:latin typeface="Arial MT"/>
                <a:cs typeface="Arial MT"/>
                <a:sym typeface="Wingdings" panose="05000000000000000000" pitchFamily="2" charset="2"/>
              </a:rPr>
              <a:t> </a:t>
            </a:r>
            <a:endParaRPr lang="es-ES" sz="2000" dirty="0">
              <a:latin typeface="Arial MT"/>
              <a:cs typeface="Arial MT"/>
            </a:endParaRPr>
          </a:p>
          <a:p>
            <a:pPr algn="just">
              <a:spcAft>
                <a:spcPts val="1200"/>
              </a:spcAft>
            </a:pPr>
            <a:endParaRPr lang="ca-ES" sz="2000" dirty="0"/>
          </a:p>
          <a:p>
            <a:pPr algn="just"/>
            <a:endParaRPr lang="ca-ES" sz="2000" dirty="0"/>
          </a:p>
        </p:txBody>
      </p:sp>
      <p:pic>
        <p:nvPicPr>
          <p:cNvPr id="5" name="object 8">
            <a:extLst>
              <a:ext uri="{FF2B5EF4-FFF2-40B4-BE49-F238E27FC236}">
                <a16:creationId xmlns:a16="http://schemas.microsoft.com/office/drawing/2014/main" id="{16347F3B-DAC1-5098-F898-241F7BF9F2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7515" y="4741585"/>
            <a:ext cx="2104390" cy="59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8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1.5.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RegExp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5C3C6B-37E7-9832-3B20-323A59C83F31}"/>
              </a:ext>
            </a:extLst>
          </p:cNvPr>
          <p:cNvSpPr txBox="1"/>
          <p:nvPr/>
        </p:nvSpPr>
        <p:spPr>
          <a:xfrm>
            <a:off x="800820" y="1859340"/>
            <a:ext cx="76573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es-ES" sz="2400" dirty="0"/>
              <a:t>Para ver el funcionamiento básico de las expresiones regulares veremos los métodos test y match: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 test: método de las expresiones regulares que devuelve true o false si la cadena de texto cumple el patrón.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match: método del objeto </a:t>
            </a:r>
            <a:r>
              <a:rPr lang="es-ES" sz="2400" dirty="0" err="1"/>
              <a:t>String</a:t>
            </a:r>
            <a:r>
              <a:rPr lang="es-ES" sz="2400" dirty="0"/>
              <a:t> que realiza una búsqueda de la cadena contra un patrón, y devuelve un array con los resultados encontrados, o el valor primitivo </a:t>
            </a:r>
            <a:r>
              <a:rPr lang="es-ES" sz="2400" dirty="0" err="1"/>
              <a:t>null</a:t>
            </a:r>
            <a:r>
              <a:rPr lang="es-ES" sz="2400" dirty="0"/>
              <a:t> en caso de que no encuentre ninguno.</a:t>
            </a:r>
            <a:endParaRPr lang="ca-ES" sz="2400" dirty="0"/>
          </a:p>
        </p:txBody>
      </p:sp>
    </p:spTree>
    <p:extLst>
      <p:ext uri="{BB962C8B-B14F-4D97-AF65-F5344CB8AC3E}">
        <p14:creationId xmlns:p14="http://schemas.microsoft.com/office/powerpoint/2010/main" val="3458215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1.5.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RegExp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3A5E53E-26B2-E1CE-D69B-3D0664F3A6FE}"/>
              </a:ext>
            </a:extLst>
          </p:cNvPr>
          <p:cNvSpPr/>
          <p:nvPr/>
        </p:nvSpPr>
        <p:spPr>
          <a:xfrm>
            <a:off x="1201478" y="2445488"/>
            <a:ext cx="6974959" cy="281604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patrol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 /serpi/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i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patro2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 /serpi/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cad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"Curso de JavaScript en el Serpis"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(patrol.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(cad));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//true 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(patro2.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(cad));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//false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 i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res </a:t>
            </a:r>
            <a:r>
              <a:rPr lang="es-ES" b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cad.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(patrol);</a:t>
            </a: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(res.length);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//1, una sola ocurrencia 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  <a:p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lang="es-ES" b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(res[</a:t>
            </a:r>
            <a:r>
              <a:rPr lang="es-ES" b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b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]); </a:t>
            </a:r>
            <a:r>
              <a:rPr lang="es-ES" b="0">
                <a:solidFill>
                  <a:srgbClr val="88846F"/>
                </a:solidFill>
                <a:effectLst/>
                <a:latin typeface="Consolas" panose="020B0609020204030204" pitchFamily="49" charset="0"/>
              </a:rPr>
              <a:t>//Serpi</a:t>
            </a:r>
            <a:endParaRPr lang="es-ES" b="0">
              <a:solidFill>
                <a:srgbClr val="F8F8F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353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5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1.5. 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Objetos predefinidos del lenguaje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Javascript</a:t>
            </a: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: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</a:rPr>
              <a:t>El objeto </a:t>
            </a:r>
            <a:r>
              <a:rPr lang="es-ES" sz="4300" b="1" spc="-52" dirty="0" err="1">
                <a:solidFill>
                  <a:srgbClr val="333333"/>
                </a:solidFill>
                <a:latin typeface="Arial"/>
              </a:rPr>
              <a:t>RegExp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5C3C6B-37E7-9832-3B20-323A59C83F31}"/>
              </a:ext>
            </a:extLst>
          </p:cNvPr>
          <p:cNvSpPr txBox="1"/>
          <p:nvPr/>
        </p:nvSpPr>
        <p:spPr>
          <a:xfrm>
            <a:off x="800820" y="1859340"/>
            <a:ext cx="765738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sz="1700" dirty="0"/>
              <a:t>Dentro de una expresión regular podemos utilizar: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700" dirty="0" err="1"/>
              <a:t>brackets</a:t>
            </a:r>
            <a:r>
              <a:rPr lang="es-ES" sz="1700" dirty="0"/>
              <a:t> para expresar un rango de caracteres, y </a:t>
            </a:r>
            <a:r>
              <a:rPr lang="es-ES" sz="1700" dirty="0" err="1"/>
              <a:t>metacaracteres</a:t>
            </a:r>
            <a:r>
              <a:rPr lang="es-ES" sz="1700" dirty="0"/>
              <a:t>, que tienen un significado especial.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700" dirty="0"/>
              <a:t>Con el circunflejo (ˆ) estamos indicando cómo debe empezar la expresión. Con el dólar ($) estamos indicando cómo debe terminar la expresión.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700" dirty="0"/>
              <a:t>Utilizamos la </a:t>
            </a:r>
            <a:r>
              <a:rPr lang="es-ES" sz="1700" dirty="0" err="1"/>
              <a:t>contrabarra</a:t>
            </a:r>
            <a:r>
              <a:rPr lang="es-ES" sz="1700" dirty="0"/>
              <a:t> (\) para indicar que la barra (/) no es un </a:t>
            </a:r>
            <a:r>
              <a:rPr lang="es-ES" sz="1700" dirty="0" err="1"/>
              <a:t>metacarácter</a:t>
            </a:r>
            <a:r>
              <a:rPr lang="es-ES" sz="1700" dirty="0"/>
              <a:t>, sino un carácter a tener en cuenta.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700" dirty="0"/>
              <a:t>El * después de un carácter, significa "0 o más apariciones del elemento anterior". </a:t>
            </a:r>
            <a:r>
              <a:rPr lang="es-ES" sz="1700" dirty="0" err="1"/>
              <a:t>Ej</a:t>
            </a:r>
            <a:r>
              <a:rPr lang="es-ES" sz="1700" dirty="0"/>
              <a:t>: /ab*c/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700" dirty="0"/>
              <a:t>x{n} concuerda con exactamente n apariciones del elemento x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700" dirty="0"/>
              <a:t>[</a:t>
            </a:r>
            <a:r>
              <a:rPr lang="es-ES" sz="1700" dirty="0" err="1"/>
              <a:t>xyz</a:t>
            </a:r>
            <a:r>
              <a:rPr lang="es-ES" sz="1700" dirty="0"/>
              <a:t>] representa cualquier carácter de entre los que se muestran en los </a:t>
            </a:r>
            <a:r>
              <a:rPr lang="es-ES" sz="1700" dirty="0" err="1"/>
              <a:t>brackets</a:t>
            </a:r>
            <a:r>
              <a:rPr lang="es-ES" sz="1700" dirty="0"/>
              <a:t> [0-9] representa cualquier carácter comprendido en el rango expresado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700" dirty="0">
                <a:hlinkClick r:id="rId2"/>
              </a:rPr>
              <a:t>Hoja de referencia de expresiones regulares</a:t>
            </a:r>
            <a:endParaRPr lang="ca-ES" sz="1700" dirty="0"/>
          </a:p>
        </p:txBody>
      </p:sp>
    </p:spTree>
    <p:extLst>
      <p:ext uri="{BB962C8B-B14F-4D97-AF65-F5344CB8AC3E}">
        <p14:creationId xmlns:p14="http://schemas.microsoft.com/office/powerpoint/2010/main" val="966281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00820" y="703127"/>
            <a:ext cx="7542360" cy="1293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925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s-ES" sz="4300" b="1" spc="-52" dirty="0">
                <a:solidFill>
                  <a:srgbClr val="333333"/>
                </a:solidFill>
                <a:latin typeface="Arial"/>
                <a:ea typeface="Times New Roman"/>
              </a:rPr>
              <a:t>Conclusiones</a:t>
            </a:r>
            <a:endParaRPr lang="es-ES" sz="4300" b="1" spc="-52" dirty="0">
              <a:solidFill>
                <a:srgbClr val="333333"/>
              </a:solidFill>
              <a:latin typeface="Arial"/>
            </a:endParaRPr>
          </a:p>
          <a:p>
            <a:pPr algn="ctr">
              <a:lnSpc>
                <a:spcPct val="85000"/>
              </a:lnSpc>
            </a:pP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55C3C6B-37E7-9832-3B20-323A59C83F31}"/>
              </a:ext>
            </a:extLst>
          </p:cNvPr>
          <p:cNvSpPr txBox="1"/>
          <p:nvPr/>
        </p:nvSpPr>
        <p:spPr>
          <a:xfrm>
            <a:off x="800820" y="1859340"/>
            <a:ext cx="765738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2400"/>
              </a:spcAft>
            </a:pPr>
            <a:r>
              <a:rPr lang="es-ES" sz="2000" dirty="0"/>
              <a:t>Los </a:t>
            </a:r>
            <a:r>
              <a:rPr lang="es-ES" sz="2000" b="1" dirty="0"/>
              <a:t>objetos predefinidos</a:t>
            </a:r>
            <a:r>
              <a:rPr lang="es-ES" sz="2000" dirty="0"/>
              <a:t> en JavaScript sirven como herramientas fundamentales para realizar operaciones comunes y específicas dentro del lenguaje, sin necesidad de que los programadores tengan que escribir su propia lógica desde cero. </a:t>
            </a:r>
          </a:p>
          <a:p>
            <a:pPr algn="just">
              <a:lnSpc>
                <a:spcPct val="150000"/>
              </a:lnSpc>
              <a:spcAft>
                <a:spcPts val="2400"/>
              </a:spcAft>
            </a:pPr>
            <a:r>
              <a:rPr lang="es-ES" sz="2000" dirty="0"/>
              <a:t>Cada uno de estos objetos tiene un propósito particular y </a:t>
            </a:r>
            <a:r>
              <a:rPr lang="es-ES" sz="2000" b="1" dirty="0"/>
              <a:t>facilita tareas </a:t>
            </a:r>
            <a:r>
              <a:rPr lang="es-ES" sz="2000" dirty="0"/>
              <a:t>que van desde la manipulación de datos básicos hasta operaciones avanzadas en estructuras de datos o patrones de texto.</a:t>
            </a:r>
          </a:p>
          <a:p>
            <a:pPr algn="just">
              <a:spcAft>
                <a:spcPts val="600"/>
              </a:spcAft>
            </a:pPr>
            <a:endParaRPr lang="ca-ES" sz="1700" dirty="0"/>
          </a:p>
        </p:txBody>
      </p:sp>
    </p:spTree>
    <p:extLst>
      <p:ext uri="{BB962C8B-B14F-4D97-AF65-F5344CB8AC3E}">
        <p14:creationId xmlns:p14="http://schemas.microsoft.com/office/powerpoint/2010/main" val="394383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9365</TotalTime>
  <Words>3091</Words>
  <Application>Microsoft Office PowerPoint</Application>
  <PresentationFormat>On-screen Show (4:3)</PresentationFormat>
  <Paragraphs>297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Beatriz Fuster Ochando</dc:creator>
  <dc:description/>
  <cp:lastModifiedBy>Beatriz Fuster Ochando</cp:lastModifiedBy>
  <cp:revision>118</cp:revision>
  <dcterms:created xsi:type="dcterms:W3CDTF">2020-09-16T14:45:44Z</dcterms:created>
  <dcterms:modified xsi:type="dcterms:W3CDTF">2026-09-21T18:24:13Z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r8>9</vt:r8>
  </property>
</Properties>
</file>